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4" r:id="rId11"/>
    <p:sldId id="265" r:id="rId12"/>
    <p:sldId id="271" r:id="rId13"/>
    <p:sldId id="266" r:id="rId14"/>
    <p:sldId id="267" r:id="rId15"/>
    <p:sldId id="268" r:id="rId16"/>
    <p:sldId id="269" r:id="rId17"/>
    <p:sldId id="270" r:id="rId18"/>
    <p:sldId id="273" r:id="rId19"/>
  </p:sldIdLst>
  <p:sldSz cx="18288000" cy="10287000"/>
  <p:notesSz cx="6858000" cy="9144000"/>
  <p:embeddedFontLst>
    <p:embeddedFont>
      <p:font typeface="Black Han Sans Regular" panose="020B0600000101010101" charset="-127"/>
      <p:regular r:id="rId20"/>
    </p:embeddedFont>
    <p:embeddedFont>
      <p:font typeface="Gmarket Sans Bold" panose="020B0600000101010101" charset="-127"/>
      <p:bold r:id="rId21"/>
    </p:embeddedFont>
    <p:embeddedFont>
      <p:font typeface="Gmarket Sans Light" panose="020B0600000101010101" charset="-127"/>
      <p:regular r:id="rId22"/>
    </p:embeddedFont>
    <p:embeddedFont>
      <p:font typeface="Gmarket Sans Medium" panose="020B0600000101010101" charset="-127"/>
      <p:regular r:id="rId23"/>
    </p:embeddedFont>
    <p:embeddedFont>
      <p:font typeface="NanumSquare Regular" panose="020B0600000101010101" charset="-127"/>
      <p:regular r:id="rId24"/>
    </p:embeddedFont>
    <p:embeddedFont>
      <p:font typeface="Pretendard Bold" panose="020B0600000101010101" charset="-127"/>
      <p:bold r:id="rId25"/>
    </p:embeddedFont>
    <p:embeddedFont>
      <p:font typeface="Pretendard Regular" panose="020B0600000101010101" charset="-127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8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6.png"/><Relationship Id="rId7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9.png"/><Relationship Id="rId5" Type="http://schemas.openxmlformats.org/officeDocument/2006/relationships/image" Target="../media/image10.png"/><Relationship Id="rId10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6.png"/><Relationship Id="rId7" Type="http://schemas.openxmlformats.org/officeDocument/2006/relationships/image" Target="../media/image2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0.png"/><Relationship Id="rId10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6.png"/><Relationship Id="rId7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6.png"/><Relationship Id="rId7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22.png"/><Relationship Id="rId4" Type="http://schemas.openxmlformats.org/officeDocument/2006/relationships/image" Target="../media/image3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6.png"/><Relationship Id="rId7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22.png"/><Relationship Id="rId4" Type="http://schemas.openxmlformats.org/officeDocument/2006/relationships/image" Target="../media/image3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6.png"/><Relationship Id="rId7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6.png"/><Relationship Id="rId7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26.png"/><Relationship Id="rId4" Type="http://schemas.openxmlformats.org/officeDocument/2006/relationships/image" Target="../media/image3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6.png"/><Relationship Id="rId7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32.png"/><Relationship Id="rId3" Type="http://schemas.openxmlformats.org/officeDocument/2006/relationships/image" Target="../media/image16.png"/><Relationship Id="rId7" Type="http://schemas.openxmlformats.org/officeDocument/2006/relationships/image" Target="../media/image12.png"/><Relationship Id="rId12" Type="http://schemas.openxmlformats.org/officeDocument/2006/relationships/image" Target="../media/image3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30.png"/><Relationship Id="rId5" Type="http://schemas.openxmlformats.org/officeDocument/2006/relationships/image" Target="../media/image10.png"/><Relationship Id="rId10" Type="http://schemas.openxmlformats.org/officeDocument/2006/relationships/image" Target="../media/image29.png"/><Relationship Id="rId4" Type="http://schemas.openxmlformats.org/officeDocument/2006/relationships/image" Target="../media/image3.png"/><Relationship Id="rId9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37.png"/><Relationship Id="rId3" Type="http://schemas.openxmlformats.org/officeDocument/2006/relationships/image" Target="../media/image16.png"/><Relationship Id="rId7" Type="http://schemas.openxmlformats.org/officeDocument/2006/relationships/image" Target="../media/image10.png"/><Relationship Id="rId12" Type="http://schemas.openxmlformats.org/officeDocument/2006/relationships/image" Target="../media/image3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5.png"/><Relationship Id="rId5" Type="http://schemas.openxmlformats.org/officeDocument/2006/relationships/image" Target="../media/image33.png"/><Relationship Id="rId10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41.png"/><Relationship Id="rId3" Type="http://schemas.openxmlformats.org/officeDocument/2006/relationships/image" Target="../media/image16.png"/><Relationship Id="rId7" Type="http://schemas.openxmlformats.org/officeDocument/2006/relationships/image" Target="../media/image12.png"/><Relationship Id="rId12" Type="http://schemas.openxmlformats.org/officeDocument/2006/relationships/image" Target="../media/image4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39.png"/><Relationship Id="rId5" Type="http://schemas.openxmlformats.org/officeDocument/2006/relationships/image" Target="../media/image10.png"/><Relationship Id="rId10" Type="http://schemas.openxmlformats.org/officeDocument/2006/relationships/image" Target="../media/image35.png"/><Relationship Id="rId4" Type="http://schemas.openxmlformats.org/officeDocument/2006/relationships/image" Target="../media/image3.png"/><Relationship Id="rId9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6.png"/><Relationship Id="rId7" Type="http://schemas.openxmlformats.org/officeDocument/2006/relationships/image" Target="../media/image12.png"/><Relationship Id="rId12" Type="http://schemas.openxmlformats.org/officeDocument/2006/relationships/image" Target="../media/image4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43.png"/><Relationship Id="rId5" Type="http://schemas.openxmlformats.org/officeDocument/2006/relationships/image" Target="../media/image10.png"/><Relationship Id="rId10" Type="http://schemas.openxmlformats.org/officeDocument/2006/relationships/image" Target="../media/image42.png"/><Relationship Id="rId4" Type="http://schemas.openxmlformats.org/officeDocument/2006/relationships/image" Target="../media/image3.png"/><Relationship Id="rId9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6.png"/><Relationship Id="rId7" Type="http://schemas.openxmlformats.org/officeDocument/2006/relationships/image" Target="../media/image12.png"/><Relationship Id="rId12" Type="http://schemas.openxmlformats.org/officeDocument/2006/relationships/image" Target="../media/image3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31.png"/><Relationship Id="rId5" Type="http://schemas.openxmlformats.org/officeDocument/2006/relationships/image" Target="../media/image10.png"/><Relationship Id="rId10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6.png"/><Relationship Id="rId7" Type="http://schemas.openxmlformats.org/officeDocument/2006/relationships/image" Target="../media/image12.png"/><Relationship Id="rId12" Type="http://schemas.openxmlformats.org/officeDocument/2006/relationships/image" Target="../media/image3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31.png"/><Relationship Id="rId5" Type="http://schemas.openxmlformats.org/officeDocument/2006/relationships/image" Target="../media/image10.png"/><Relationship Id="rId10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6.png"/><Relationship Id="rId7" Type="http://schemas.openxmlformats.org/officeDocument/2006/relationships/image" Target="../media/image12.png"/><Relationship Id="rId12" Type="http://schemas.openxmlformats.org/officeDocument/2006/relationships/image" Target="../media/image4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47.png"/><Relationship Id="rId5" Type="http://schemas.openxmlformats.org/officeDocument/2006/relationships/image" Target="../media/image10.png"/><Relationship Id="rId10" Type="http://schemas.openxmlformats.org/officeDocument/2006/relationships/image" Target="../media/image46.png"/><Relationship Id="rId4" Type="http://schemas.openxmlformats.org/officeDocument/2006/relationships/image" Target="../media/image3.png"/><Relationship Id="rId9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6.png"/><Relationship Id="rId7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600" y="482600"/>
            <a:ext cx="2590800" cy="2146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900" y="482600"/>
            <a:ext cx="2387600" cy="2146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1016000"/>
            <a:ext cx="16687800" cy="8763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7900" y="2489200"/>
            <a:ext cx="8712200" cy="723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0" y="2641600"/>
            <a:ext cx="381000" cy="381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2268200" y="2844800"/>
            <a:ext cx="4699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1260000">
            <a:off x="13741400" y="6350000"/>
            <a:ext cx="660400" cy="660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5168900" y="2705100"/>
            <a:ext cx="70739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1" i="0" u="none" strike="noStrike" spc="100">
                <a:solidFill>
                  <a:srgbClr val="787878"/>
                </a:solidFill>
                <a:latin typeface="Gmarket Sans Light"/>
              </a:rPr>
              <a:t>BLE </a:t>
            </a:r>
            <a:r>
              <a:rPr lang="ko-KR" sz="2000" b="1" i="0" u="none" strike="noStrike" spc="100">
                <a:solidFill>
                  <a:srgbClr val="787878"/>
                </a:solidFill>
                <a:ea typeface="Gmarket Sans Light"/>
              </a:rPr>
              <a:t>기반</a:t>
            </a:r>
            <a:r>
              <a:rPr lang="en-US" sz="2000" b="1" i="0" u="none" strike="noStrike" spc="100">
                <a:solidFill>
                  <a:srgbClr val="787878"/>
                </a:solidFill>
                <a:latin typeface="Gmarket Sans Light"/>
              </a:rPr>
              <a:t> </a:t>
            </a:r>
            <a:r>
              <a:rPr lang="ko-KR" sz="2000" b="1" i="0" u="none" strike="noStrike" spc="100">
                <a:solidFill>
                  <a:srgbClr val="787878"/>
                </a:solidFill>
                <a:ea typeface="Gmarket Sans Light"/>
              </a:rPr>
              <a:t>자동</a:t>
            </a:r>
            <a:r>
              <a:rPr lang="en-US" sz="2000" b="1" i="0" u="none" strike="noStrike" spc="100">
                <a:solidFill>
                  <a:srgbClr val="787878"/>
                </a:solidFill>
                <a:latin typeface="Gmarket Sans Light"/>
              </a:rPr>
              <a:t> </a:t>
            </a:r>
            <a:r>
              <a:rPr lang="ko-KR" sz="2000" b="1" i="0" u="none" strike="noStrike" spc="100">
                <a:solidFill>
                  <a:srgbClr val="787878"/>
                </a:solidFill>
                <a:ea typeface="Gmarket Sans Light"/>
              </a:rPr>
              <a:t>점호</a:t>
            </a:r>
            <a:r>
              <a:rPr lang="en-US" sz="2000" b="1" i="0" u="none" strike="noStrike" spc="100">
                <a:solidFill>
                  <a:srgbClr val="787878"/>
                </a:solidFill>
                <a:latin typeface="Gmarket Sans Light"/>
              </a:rPr>
              <a:t> </a:t>
            </a:r>
            <a:r>
              <a:rPr lang="ko-KR" sz="2000" b="1" i="0" u="none" strike="noStrike" spc="100">
                <a:solidFill>
                  <a:srgbClr val="787878"/>
                </a:solidFill>
                <a:ea typeface="Gmarket Sans Light"/>
              </a:rPr>
              <a:t>및</a:t>
            </a:r>
            <a:r>
              <a:rPr lang="en-US" sz="2000" b="1" i="0" u="none" strike="noStrike" spc="100">
                <a:solidFill>
                  <a:srgbClr val="787878"/>
                </a:solidFill>
                <a:latin typeface="Gmarket Sans Light"/>
              </a:rPr>
              <a:t> </a:t>
            </a:r>
            <a:r>
              <a:rPr lang="ko-KR" sz="2000" b="1" i="0" u="none" strike="noStrike" spc="100">
                <a:solidFill>
                  <a:srgbClr val="787878"/>
                </a:solidFill>
                <a:ea typeface="Gmarket Sans Light"/>
              </a:rPr>
              <a:t>외출</a:t>
            </a:r>
            <a:r>
              <a:rPr lang="en-US" sz="2000" b="1" i="0" u="none" strike="noStrike" spc="100">
                <a:solidFill>
                  <a:srgbClr val="787878"/>
                </a:solidFill>
                <a:latin typeface="Gmarket Sans Light"/>
              </a:rPr>
              <a:t> </a:t>
            </a:r>
            <a:r>
              <a:rPr lang="ko-KR" sz="2000" b="1" i="0" u="none" strike="noStrike" spc="100">
                <a:solidFill>
                  <a:srgbClr val="787878"/>
                </a:solidFill>
                <a:ea typeface="Gmarket Sans Light"/>
              </a:rPr>
              <a:t>관리</a:t>
            </a:r>
            <a:r>
              <a:rPr lang="en-US" sz="2000" b="1" i="0" u="none" strike="noStrike" spc="100">
                <a:solidFill>
                  <a:srgbClr val="787878"/>
                </a:solidFill>
                <a:latin typeface="Gmarket Sans Light"/>
              </a:rPr>
              <a:t> </a:t>
            </a:r>
            <a:r>
              <a:rPr lang="ko-KR" sz="2000" b="1" i="0" u="none" strike="noStrike" spc="100">
                <a:solidFill>
                  <a:srgbClr val="787878"/>
                </a:solidFill>
                <a:ea typeface="Gmarket Sans Light"/>
              </a:rPr>
              <a:t>시스템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66400" y="469900"/>
            <a:ext cx="69215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sz="1500" b="1" i="0" u="none" strike="noStrike" spc="100">
                <a:solidFill>
                  <a:srgbClr val="2D2D2D"/>
                </a:solidFill>
                <a:latin typeface="Gmarket Sans Light"/>
              </a:rPr>
              <a:t>5,6</a:t>
            </a:r>
            <a:r>
              <a:rPr lang="ko-KR" sz="1500" b="1" i="0" u="none" strike="noStrike" spc="100">
                <a:solidFill>
                  <a:srgbClr val="2D2D2D"/>
                </a:solidFill>
                <a:ea typeface="Gmarket Sans Light"/>
              </a:rPr>
              <a:t>조</a:t>
            </a:r>
            <a:r>
              <a:rPr lang="en-US" sz="1500" b="1" i="0" u="none" strike="noStrike" spc="100">
                <a:solidFill>
                  <a:srgbClr val="2D2D2D"/>
                </a:solidFill>
                <a:latin typeface="Gmarket Sans Light"/>
              </a:rPr>
              <a:t> </a:t>
            </a:r>
            <a:r>
              <a:rPr lang="ko-KR" sz="1500" b="1" i="0" u="none" strike="noStrike" spc="100">
                <a:solidFill>
                  <a:srgbClr val="2D2D2D"/>
                </a:solidFill>
                <a:ea typeface="Gmarket Sans Light"/>
              </a:rPr>
              <a:t>통합</a:t>
            </a:r>
            <a:r>
              <a:rPr lang="en-US" sz="1500" b="1" i="0" u="none" strike="noStrike" spc="100">
                <a:solidFill>
                  <a:srgbClr val="2D2D2D"/>
                </a:solidFill>
                <a:latin typeface="Gmarket Sans Light"/>
              </a:rPr>
              <a:t> - </a:t>
            </a:r>
            <a:r>
              <a:rPr lang="ko-KR" sz="1500" b="1" i="0" u="none" strike="noStrike" spc="100">
                <a:solidFill>
                  <a:srgbClr val="2D2D2D"/>
                </a:solidFill>
                <a:ea typeface="Gmarket Sans Light"/>
              </a:rPr>
              <a:t>김효은</a:t>
            </a:r>
            <a:r>
              <a:rPr lang="en-US" sz="1500" b="1" i="0" u="none" strike="noStrike" spc="100">
                <a:solidFill>
                  <a:srgbClr val="2D2D2D"/>
                </a:solidFill>
                <a:latin typeface="Gmarket Sans Light"/>
              </a:rPr>
              <a:t> </a:t>
            </a:r>
            <a:r>
              <a:rPr lang="ko-KR" sz="1500" b="1" i="0" u="none" strike="noStrike" spc="100">
                <a:solidFill>
                  <a:srgbClr val="2D2D2D"/>
                </a:solidFill>
                <a:ea typeface="Gmarket Sans Light"/>
              </a:rPr>
              <a:t>최종호</a:t>
            </a:r>
            <a:r>
              <a:rPr lang="en-US" sz="1500" b="1" i="0" u="none" strike="noStrike" spc="100">
                <a:solidFill>
                  <a:srgbClr val="2D2D2D"/>
                </a:solidFill>
                <a:latin typeface="Gmarket Sans Light"/>
              </a:rPr>
              <a:t> </a:t>
            </a:r>
            <a:r>
              <a:rPr lang="ko-KR" sz="1500" b="1" i="0" u="none" strike="noStrike" spc="100">
                <a:solidFill>
                  <a:srgbClr val="2D2D2D"/>
                </a:solidFill>
                <a:ea typeface="Gmarket Sans Light"/>
              </a:rPr>
              <a:t>정민제</a:t>
            </a:r>
            <a:r>
              <a:rPr lang="en-US" sz="1500" b="1" i="0" u="none" strike="noStrike" spc="100">
                <a:solidFill>
                  <a:srgbClr val="2D2D2D"/>
                </a:solidFill>
                <a:latin typeface="Gmarket Sans Light"/>
              </a:rPr>
              <a:t> </a:t>
            </a:r>
            <a:r>
              <a:rPr lang="ko-KR" sz="1500" b="1" i="0" u="none" strike="noStrike" spc="100">
                <a:solidFill>
                  <a:srgbClr val="2D2D2D"/>
                </a:solidFill>
                <a:ea typeface="Gmarket Sans Light"/>
              </a:rPr>
              <a:t>라야</a:t>
            </a:r>
            <a:r>
              <a:rPr lang="en-US" sz="1500" b="1" i="0" u="none" strike="noStrike" spc="100">
                <a:solidFill>
                  <a:srgbClr val="2D2D2D"/>
                </a:solidFill>
                <a:latin typeface="Gmarket Sans Light"/>
              </a:rPr>
              <a:t> 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35500" y="4495800"/>
            <a:ext cx="9436100" cy="212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9559"/>
              </a:lnSpc>
            </a:pPr>
            <a:r>
              <a:rPr lang="ko-KR" sz="11900" b="0" i="0" u="none" strike="noStrike" spc="-200">
                <a:solidFill>
                  <a:srgbClr val="3567D3"/>
                </a:solidFill>
                <a:ea typeface="Gmarket Sans Medium"/>
              </a:rPr>
              <a:t>기숙사</a:t>
            </a:r>
            <a:r>
              <a:rPr lang="en-US" sz="11900" b="0" i="0" u="none" strike="noStrike" spc="-200">
                <a:solidFill>
                  <a:srgbClr val="3567D3"/>
                </a:solidFill>
                <a:latin typeface="Gmarket Sans Medium"/>
              </a:rPr>
              <a:t> In(</a:t>
            </a:r>
            <a:r>
              <a:rPr lang="ja-JP" sz="10800" b="0" i="0" u="none" strike="noStrike" spc="-100">
                <a:solidFill>
                  <a:srgbClr val="3567D3"/>
                </a:solidFill>
                <a:ea typeface="Gmarket Sans Medium"/>
              </a:rPr>
              <a:t>人</a:t>
            </a:r>
            <a:r>
              <a:rPr lang="en-US" sz="11900" b="0" i="0" u="none" strike="noStrike" spc="-200">
                <a:solidFill>
                  <a:srgbClr val="3567D3"/>
                </a:solidFill>
                <a:latin typeface="Gmarket Sans Medium"/>
              </a:rPr>
              <a:t>)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3" name="TextBox 13"/>
          <p:cNvSpPr txBox="1"/>
          <p:nvPr/>
        </p:nvSpPr>
        <p:spPr>
          <a:xfrm>
            <a:off x="4292600" y="533400"/>
            <a:ext cx="9779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300" b="0" i="0" u="none" strike="noStrike" spc="300">
                <a:solidFill>
                  <a:srgbClr val="DDE0ED"/>
                </a:solidFill>
                <a:latin typeface="Gmarket Sans Bold"/>
              </a:rPr>
              <a:t>KOPO.</a:t>
            </a:r>
          </a:p>
          <a:p>
            <a:pPr lvl="0" algn="ctr">
              <a:lnSpc>
                <a:spcPct val="99600"/>
              </a:lnSpc>
            </a:pPr>
            <a:r>
              <a:rPr lang="en-US" sz="1300" b="0" i="0" u="none" strike="noStrike" spc="300">
                <a:solidFill>
                  <a:srgbClr val="DDE0ED"/>
                </a:solidFill>
                <a:latin typeface="Gmarket Sans Bold"/>
              </a:rPr>
              <a:t>AISW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76700" y="635000"/>
            <a:ext cx="228600" cy="1905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803400" y="698500"/>
            <a:ext cx="1447800" cy="165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1000" b="0" i="0" u="none" strike="noStrike" spc="100">
                <a:solidFill>
                  <a:srgbClr val="787878"/>
                </a:solidFill>
                <a:ea typeface="Gmarket Sans Medium"/>
              </a:rPr>
              <a:t>발명과</a:t>
            </a:r>
            <a:r>
              <a:rPr lang="en-US" sz="1000" b="0" i="0" u="none" strike="noStrike" spc="100">
                <a:solidFill>
                  <a:srgbClr val="787878"/>
                </a:solidFill>
                <a:latin typeface="Gmarket Sans Medium"/>
              </a:rPr>
              <a:t> </a:t>
            </a:r>
            <a:r>
              <a:rPr lang="ko-KR" sz="1000" b="0" i="0" u="none" strike="noStrike" spc="100">
                <a:solidFill>
                  <a:srgbClr val="787878"/>
                </a:solidFill>
                <a:ea typeface="Gmarket Sans Medium"/>
              </a:rPr>
              <a:t>창업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600" y="482600"/>
            <a:ext cx="2590800" cy="2146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900" y="482600"/>
            <a:ext cx="2387600" cy="2146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1016000"/>
            <a:ext cx="16687800" cy="8763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9334500" y="3276600"/>
            <a:ext cx="6642100" cy="1727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9334500" y="5143500"/>
            <a:ext cx="6642100" cy="1727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9334500" y="7010400"/>
            <a:ext cx="6642100" cy="1727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2209800" y="3276600"/>
            <a:ext cx="6642100" cy="1727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2209800" y="5143500"/>
            <a:ext cx="6642100" cy="1727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2209800" y="7010400"/>
            <a:ext cx="6642100" cy="17272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4089400" y="3695700"/>
            <a:ext cx="42926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2009"/>
              </a:lnSpc>
            </a:pPr>
            <a:r>
              <a:rPr lang="ko-KR" sz="3000" b="0" i="0" u="none" strike="noStrike" spc="200">
                <a:solidFill>
                  <a:srgbClr val="3567D3"/>
                </a:solidFill>
                <a:ea typeface="Gmarket Sans Medium"/>
              </a:rPr>
              <a:t>프로젝트</a:t>
            </a:r>
            <a:r>
              <a:rPr lang="en-US" sz="3000" b="0" i="0" u="none" strike="noStrike" spc="2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3000" b="0" i="0" u="none" strike="noStrike" spc="200">
                <a:solidFill>
                  <a:srgbClr val="3567D3"/>
                </a:solidFill>
                <a:ea typeface="Gmarket Sans Medium"/>
              </a:rPr>
              <a:t>개요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89400" y="4318000"/>
            <a:ext cx="3822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1970"/>
              </a:lnSpc>
            </a:pPr>
            <a:r>
              <a:rPr lang="ko-KR" sz="1700" b="0" i="0" u="none" strike="noStrike" spc="-100">
                <a:solidFill>
                  <a:srgbClr val="787878"/>
                </a:solidFill>
                <a:ea typeface="Gmarket Sans Light"/>
              </a:rPr>
              <a:t>왜</a:t>
            </a:r>
            <a:r>
              <a:rPr lang="en-US" sz="1700" b="0" i="0" u="none" strike="noStrike" spc="-100">
                <a:solidFill>
                  <a:srgbClr val="787878"/>
                </a:solidFill>
                <a:latin typeface="Gmarket Sans Light"/>
              </a:rPr>
              <a:t> </a:t>
            </a:r>
            <a:r>
              <a:rPr lang="ko-KR" sz="1700" b="0" i="0" u="none" strike="noStrike" spc="-100">
                <a:solidFill>
                  <a:srgbClr val="787878"/>
                </a:solidFill>
                <a:ea typeface="Gmarket Sans Light"/>
              </a:rPr>
              <a:t>이</a:t>
            </a:r>
            <a:r>
              <a:rPr lang="en-US" sz="1700" b="0" i="0" u="none" strike="noStrike" spc="-100">
                <a:solidFill>
                  <a:srgbClr val="787878"/>
                </a:solidFill>
                <a:latin typeface="Gmarket Sans Light"/>
              </a:rPr>
              <a:t> </a:t>
            </a:r>
            <a:r>
              <a:rPr lang="ko-KR" sz="1700" b="0" i="0" u="none" strike="noStrike" spc="-100">
                <a:solidFill>
                  <a:srgbClr val="787878"/>
                </a:solidFill>
                <a:ea typeface="Gmarket Sans Light"/>
              </a:rPr>
              <a:t>주제를</a:t>
            </a:r>
            <a:r>
              <a:rPr lang="en-US" sz="1700" b="0" i="0" u="none" strike="noStrike" spc="-100">
                <a:solidFill>
                  <a:srgbClr val="787878"/>
                </a:solidFill>
                <a:latin typeface="Gmarket Sans Light"/>
              </a:rPr>
              <a:t> </a:t>
            </a:r>
            <a:r>
              <a:rPr lang="ko-KR" sz="1700" b="0" i="0" u="none" strike="noStrike" spc="-100">
                <a:solidFill>
                  <a:srgbClr val="787878"/>
                </a:solidFill>
                <a:ea typeface="Gmarket Sans Light"/>
              </a:rPr>
              <a:t>선택하게</a:t>
            </a:r>
            <a:r>
              <a:rPr lang="en-US" sz="1700" b="0" i="0" u="none" strike="noStrike" spc="-100">
                <a:solidFill>
                  <a:srgbClr val="787878"/>
                </a:solidFill>
                <a:latin typeface="Gmarket Sans Light"/>
              </a:rPr>
              <a:t> </a:t>
            </a:r>
            <a:r>
              <a:rPr lang="ko-KR" sz="1700" b="0" i="0" u="none" strike="noStrike" spc="-100">
                <a:solidFill>
                  <a:srgbClr val="787878"/>
                </a:solidFill>
                <a:ea typeface="Gmarket Sans Light"/>
              </a:rPr>
              <a:t>되었는가</a:t>
            </a:r>
            <a:r>
              <a:rPr lang="en-US" sz="1700" b="0" i="0" u="none" strike="noStrike" spc="-100">
                <a:solidFill>
                  <a:srgbClr val="787878"/>
                </a:solidFill>
                <a:latin typeface="Gmarket Sans Light"/>
              </a:rPr>
              <a:t>?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6700" y="1701800"/>
            <a:ext cx="12687300" cy="1041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65300" y="1930400"/>
            <a:ext cx="558800" cy="558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3690600" y="2222500"/>
            <a:ext cx="673100" cy="25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5346700" y="1866900"/>
            <a:ext cx="79883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목차</a:t>
            </a:r>
            <a:r>
              <a:rPr lang="en-US" sz="4500" b="0" i="0" u="none" strike="noStrike" spc="1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페이지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46400" y="1828800"/>
            <a:ext cx="1892300" cy="7747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3175000" y="2070100"/>
            <a:ext cx="1384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500" b="0" i="0" u="none" strike="noStrike">
                <a:solidFill>
                  <a:srgbClr val="FFFFFF"/>
                </a:solidFill>
                <a:latin typeface="Gmarket Sans Medium"/>
              </a:rPr>
              <a:t>contents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90800" y="3733800"/>
            <a:ext cx="1257300" cy="4191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2730500" y="3835400"/>
            <a:ext cx="9398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200" b="0" i="0" u="none" strike="noStrike">
                <a:solidFill>
                  <a:srgbClr val="598EFF"/>
                </a:solidFill>
                <a:latin typeface="Gmarket Sans Medium"/>
              </a:rPr>
              <a:t>chapter 01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089400" y="5537200"/>
            <a:ext cx="42926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2009"/>
              </a:lnSpc>
            </a:pPr>
            <a:r>
              <a:rPr lang="ko-KR" sz="2800" b="0" i="0" u="none" strike="noStrike" spc="200">
                <a:solidFill>
                  <a:srgbClr val="3567D3"/>
                </a:solidFill>
                <a:ea typeface="Gmarket Sans Medium"/>
              </a:rPr>
              <a:t>시스템</a:t>
            </a:r>
            <a:r>
              <a:rPr lang="en-US" sz="2800" b="0" i="0" u="none" strike="noStrike" spc="2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2800" b="0" i="0" u="none" strike="noStrike" spc="200">
                <a:solidFill>
                  <a:srgbClr val="3567D3"/>
                </a:solidFill>
                <a:ea typeface="Gmarket Sans Medium"/>
              </a:rPr>
              <a:t>구성</a:t>
            </a:r>
            <a:r>
              <a:rPr lang="en-US" sz="2800" b="0" i="0" u="none" strike="noStrike" spc="2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2800" b="0" i="0" u="none" strike="noStrike" spc="200">
                <a:solidFill>
                  <a:srgbClr val="3567D3"/>
                </a:solidFill>
                <a:ea typeface="Gmarket Sans Medium"/>
              </a:rPr>
              <a:t>및</a:t>
            </a:r>
            <a:r>
              <a:rPr lang="en-US" sz="2800" b="0" i="0" u="none" strike="noStrike" spc="2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2800" b="0" i="0" u="none" strike="noStrike" spc="200">
                <a:solidFill>
                  <a:srgbClr val="3567D3"/>
                </a:solidFill>
                <a:ea typeface="Gmarket Sans Medium"/>
              </a:rPr>
              <a:t>기술</a:t>
            </a:r>
            <a:r>
              <a:rPr lang="en-US" sz="2800" b="0" i="0" u="none" strike="noStrike" spc="2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2800" b="0" i="0" u="none" strike="noStrike" spc="200">
                <a:solidFill>
                  <a:srgbClr val="3567D3"/>
                </a:solidFill>
                <a:ea typeface="Gmarket Sans Medium"/>
              </a:rPr>
              <a:t>스택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089400" y="6146800"/>
            <a:ext cx="3822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1970"/>
              </a:lnSpc>
            </a:pPr>
            <a:r>
              <a:rPr lang="ko-KR" sz="1700" b="0" i="0" u="none" strike="noStrike" spc="-100">
                <a:solidFill>
                  <a:srgbClr val="787878"/>
                </a:solidFill>
                <a:ea typeface="Gmarket Sans Light"/>
              </a:rPr>
              <a:t>아키텍처와</a:t>
            </a:r>
            <a:r>
              <a:rPr lang="en-US" sz="1700" b="0" i="0" u="none" strike="noStrike" spc="-100">
                <a:solidFill>
                  <a:srgbClr val="787878"/>
                </a:solidFill>
                <a:latin typeface="Gmarket Sans Light"/>
              </a:rPr>
              <a:t> </a:t>
            </a:r>
            <a:r>
              <a:rPr lang="ko-KR" sz="1700" b="0" i="0" u="none" strike="noStrike" spc="-100">
                <a:solidFill>
                  <a:srgbClr val="787878"/>
                </a:solidFill>
                <a:ea typeface="Gmarket Sans Light"/>
              </a:rPr>
              <a:t>기술</a:t>
            </a:r>
            <a:r>
              <a:rPr lang="en-US" sz="1700" b="0" i="0" u="none" strike="noStrike" spc="-100">
                <a:solidFill>
                  <a:srgbClr val="787878"/>
                </a:solidFill>
                <a:latin typeface="Gmarket Sans Light"/>
              </a:rPr>
              <a:t> </a:t>
            </a:r>
            <a:r>
              <a:rPr lang="ko-KR" sz="1700" b="0" i="0" u="none" strike="noStrike" spc="-100">
                <a:solidFill>
                  <a:srgbClr val="787878"/>
                </a:solidFill>
                <a:ea typeface="Gmarket Sans Light"/>
              </a:rPr>
              <a:t>스택</a:t>
            </a:r>
            <a:r>
              <a:rPr lang="en-US" sz="1700" b="0" i="0" u="none" strike="noStrike" spc="-100">
                <a:solidFill>
                  <a:srgbClr val="787878"/>
                </a:solidFill>
                <a:latin typeface="Gmarket Sans Light"/>
              </a:rPr>
              <a:t> </a:t>
            </a:r>
            <a:r>
              <a:rPr lang="ko-KR" sz="1700" b="0" i="0" u="none" strike="noStrike" spc="-100">
                <a:solidFill>
                  <a:srgbClr val="787878"/>
                </a:solidFill>
                <a:ea typeface="Gmarket Sans Light"/>
              </a:rPr>
              <a:t>구성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90800" y="5562600"/>
            <a:ext cx="1257300" cy="4191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2730500" y="5664200"/>
            <a:ext cx="9398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200" b="0" i="0" u="none" strike="noStrike">
                <a:solidFill>
                  <a:srgbClr val="598EFF"/>
                </a:solidFill>
                <a:latin typeface="Gmarket Sans Medium"/>
              </a:rPr>
              <a:t>chapter 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089400" y="7429500"/>
            <a:ext cx="42926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2009"/>
              </a:lnSpc>
            </a:pPr>
            <a:r>
              <a:rPr lang="ko-KR" sz="3000" b="0" i="0" u="none" strike="noStrike" spc="200">
                <a:solidFill>
                  <a:srgbClr val="3567D3"/>
                </a:solidFill>
                <a:ea typeface="Gmarket Sans Medium"/>
              </a:rPr>
              <a:t>기대</a:t>
            </a:r>
            <a:r>
              <a:rPr lang="en-US" sz="3000" b="0" i="0" u="none" strike="noStrike" spc="2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3000" b="0" i="0" u="none" strike="noStrike" spc="200">
                <a:solidFill>
                  <a:srgbClr val="3567D3"/>
                </a:solidFill>
                <a:ea typeface="Gmarket Sans Medium"/>
              </a:rPr>
              <a:t>효과</a:t>
            </a:r>
            <a:r>
              <a:rPr lang="en-US" sz="3000" b="0" i="0" u="none" strike="noStrike" spc="2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3000" b="0" i="0" u="none" strike="noStrike" spc="200">
                <a:solidFill>
                  <a:srgbClr val="3567D3"/>
                </a:solidFill>
                <a:ea typeface="Gmarket Sans Medium"/>
              </a:rPr>
              <a:t>및</a:t>
            </a:r>
            <a:r>
              <a:rPr lang="en-US" sz="3000" b="0" i="0" u="none" strike="noStrike" spc="2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3000" b="0" i="0" u="none" strike="noStrike" spc="200">
                <a:solidFill>
                  <a:srgbClr val="3567D3"/>
                </a:solidFill>
                <a:ea typeface="Gmarket Sans Medium"/>
              </a:rPr>
              <a:t>활용</a:t>
            </a:r>
            <a:r>
              <a:rPr lang="en-US" sz="3000" b="0" i="0" u="none" strike="noStrike" spc="2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3000" b="0" i="0" u="none" strike="noStrike" spc="200">
                <a:solidFill>
                  <a:srgbClr val="3567D3"/>
                </a:solidFill>
                <a:ea typeface="Gmarket Sans Medium"/>
              </a:rPr>
              <a:t>방안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089400" y="8039100"/>
            <a:ext cx="3822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1970"/>
              </a:lnSpc>
            </a:pPr>
            <a:r>
              <a:rPr lang="ko-KR" sz="1700" b="0" i="0" u="none" strike="noStrike" spc="-100">
                <a:solidFill>
                  <a:srgbClr val="787878"/>
                </a:solidFill>
                <a:ea typeface="Gmarket Sans Light"/>
              </a:rPr>
              <a:t>각</a:t>
            </a:r>
            <a:r>
              <a:rPr lang="en-US" sz="1700" b="0" i="0" u="none" strike="noStrike" spc="-100">
                <a:solidFill>
                  <a:srgbClr val="787878"/>
                </a:solidFill>
                <a:latin typeface="Gmarket Sans Light"/>
              </a:rPr>
              <a:t> </a:t>
            </a:r>
            <a:r>
              <a:rPr lang="ko-KR" sz="1700" b="0" i="0" u="none" strike="noStrike" spc="-100">
                <a:solidFill>
                  <a:srgbClr val="787878"/>
                </a:solidFill>
                <a:ea typeface="Gmarket Sans Light"/>
              </a:rPr>
              <a:t>기대</a:t>
            </a:r>
            <a:r>
              <a:rPr lang="en-US" sz="1700" b="0" i="0" u="none" strike="noStrike" spc="-100">
                <a:solidFill>
                  <a:srgbClr val="787878"/>
                </a:solidFill>
                <a:latin typeface="Gmarket Sans Light"/>
              </a:rPr>
              <a:t> </a:t>
            </a:r>
            <a:r>
              <a:rPr lang="ko-KR" sz="1700" b="0" i="0" u="none" strike="noStrike" spc="-100">
                <a:solidFill>
                  <a:srgbClr val="787878"/>
                </a:solidFill>
                <a:ea typeface="Gmarket Sans Light"/>
              </a:rPr>
              <a:t>효과와</a:t>
            </a:r>
            <a:r>
              <a:rPr lang="en-US" sz="1700" b="0" i="0" u="none" strike="noStrike" spc="-100">
                <a:solidFill>
                  <a:srgbClr val="787878"/>
                </a:solidFill>
                <a:latin typeface="Gmarket Sans Light"/>
              </a:rPr>
              <a:t> </a:t>
            </a:r>
            <a:r>
              <a:rPr lang="ko-KR" sz="1700" b="0" i="0" u="none" strike="noStrike" spc="-100">
                <a:solidFill>
                  <a:srgbClr val="787878"/>
                </a:solidFill>
                <a:ea typeface="Gmarket Sans Light"/>
              </a:rPr>
              <a:t>활용</a:t>
            </a:r>
            <a:r>
              <a:rPr lang="en-US" sz="1700" b="0" i="0" u="none" strike="noStrike" spc="-100">
                <a:solidFill>
                  <a:srgbClr val="787878"/>
                </a:solidFill>
                <a:latin typeface="Gmarket Sans Light"/>
              </a:rPr>
              <a:t> </a:t>
            </a:r>
            <a:r>
              <a:rPr lang="ko-KR" sz="1700" b="0" i="0" u="none" strike="noStrike" spc="-100">
                <a:solidFill>
                  <a:srgbClr val="787878"/>
                </a:solidFill>
                <a:ea typeface="Gmarket Sans Light"/>
              </a:rPr>
              <a:t>가능한</a:t>
            </a:r>
            <a:r>
              <a:rPr lang="en-US" sz="1700" b="0" i="0" u="none" strike="noStrike" spc="-100">
                <a:solidFill>
                  <a:srgbClr val="787878"/>
                </a:solidFill>
                <a:latin typeface="Gmarket Sans Light"/>
              </a:rPr>
              <a:t> </a:t>
            </a:r>
            <a:r>
              <a:rPr lang="ko-KR" sz="1700" b="0" i="0" u="none" strike="noStrike" spc="-100">
                <a:solidFill>
                  <a:srgbClr val="787878"/>
                </a:solidFill>
                <a:ea typeface="Gmarket Sans Light"/>
              </a:rPr>
              <a:t>분야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90800" y="7467600"/>
            <a:ext cx="1257300" cy="4191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2730500" y="7556500"/>
            <a:ext cx="9398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200" b="0" i="0" u="none" strike="noStrike">
                <a:solidFill>
                  <a:srgbClr val="598EFF"/>
                </a:solidFill>
                <a:latin typeface="Gmarket Sans Medium"/>
              </a:rPr>
              <a:t>chapter 05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264900" y="3695700"/>
            <a:ext cx="42926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2009"/>
              </a:lnSpc>
            </a:pPr>
            <a:r>
              <a:rPr lang="ko-KR" sz="3000" b="0" i="0" u="none" strike="noStrike" spc="200">
                <a:solidFill>
                  <a:srgbClr val="3567D3"/>
                </a:solidFill>
                <a:ea typeface="Gmarket Sans Medium"/>
              </a:rPr>
              <a:t>주요</a:t>
            </a:r>
            <a:r>
              <a:rPr lang="en-US" sz="3000" b="0" i="0" u="none" strike="noStrike" spc="2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3000" b="0" i="0" u="none" strike="noStrike" spc="200">
                <a:solidFill>
                  <a:srgbClr val="3567D3"/>
                </a:solidFill>
                <a:ea typeface="Gmarket Sans Medium"/>
              </a:rPr>
              <a:t>기능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264900" y="4318000"/>
            <a:ext cx="3822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1970"/>
              </a:lnSpc>
            </a:pPr>
            <a:r>
              <a:rPr lang="ko-KR" sz="1700" b="0" i="0" u="none" strike="noStrike" spc="-100">
                <a:solidFill>
                  <a:srgbClr val="787878"/>
                </a:solidFill>
                <a:ea typeface="Gmarket Sans Light"/>
              </a:rPr>
              <a:t>학생용</a:t>
            </a:r>
            <a:r>
              <a:rPr lang="en-US" sz="1700" b="0" i="0" u="none" strike="noStrike" spc="-100">
                <a:solidFill>
                  <a:srgbClr val="787878"/>
                </a:solidFill>
                <a:latin typeface="Gmarket Sans Light"/>
              </a:rPr>
              <a:t> </a:t>
            </a:r>
            <a:r>
              <a:rPr lang="ko-KR" sz="1700" b="0" i="0" u="none" strike="noStrike" spc="-100">
                <a:solidFill>
                  <a:srgbClr val="787878"/>
                </a:solidFill>
                <a:ea typeface="Gmarket Sans Light"/>
              </a:rPr>
              <a:t>앱과</a:t>
            </a:r>
            <a:r>
              <a:rPr lang="en-US" sz="1700" b="0" i="0" u="none" strike="noStrike" spc="-100">
                <a:solidFill>
                  <a:srgbClr val="787878"/>
                </a:solidFill>
                <a:latin typeface="Gmarket Sans Light"/>
              </a:rPr>
              <a:t> </a:t>
            </a:r>
            <a:r>
              <a:rPr lang="ko-KR" sz="1700" b="0" i="0" u="none" strike="noStrike" spc="-100">
                <a:solidFill>
                  <a:srgbClr val="787878"/>
                </a:solidFill>
                <a:ea typeface="Gmarket Sans Light"/>
              </a:rPr>
              <a:t>관리자용</a:t>
            </a:r>
            <a:r>
              <a:rPr lang="en-US" sz="1700" b="0" i="0" u="none" strike="noStrike" spc="-100">
                <a:solidFill>
                  <a:srgbClr val="787878"/>
                </a:solidFill>
                <a:latin typeface="Gmarket Sans Light"/>
              </a:rPr>
              <a:t> </a:t>
            </a:r>
            <a:r>
              <a:rPr lang="ko-KR" sz="1700" b="0" i="0" u="none" strike="noStrike" spc="-100">
                <a:solidFill>
                  <a:srgbClr val="787878"/>
                </a:solidFill>
                <a:ea typeface="Gmarket Sans Light"/>
              </a:rPr>
              <a:t>웹</a:t>
            </a:r>
            <a:r>
              <a:rPr lang="en-US" sz="1700" b="0" i="0" u="none" strike="noStrike" spc="-100">
                <a:solidFill>
                  <a:srgbClr val="787878"/>
                </a:solidFill>
                <a:latin typeface="Gmarket Sans Light"/>
              </a:rPr>
              <a:t> </a:t>
            </a:r>
            <a:r>
              <a:rPr lang="ko-KR" sz="1700" b="0" i="0" u="none" strike="noStrike" spc="-100">
                <a:solidFill>
                  <a:srgbClr val="787878"/>
                </a:solidFill>
                <a:ea typeface="Gmarket Sans Light"/>
              </a:rPr>
              <a:t>주요기능</a:t>
            </a:r>
            <a:r>
              <a:rPr lang="en-US" sz="1700" b="0" i="0" u="none" strike="noStrike" spc="-100">
                <a:solidFill>
                  <a:srgbClr val="787878"/>
                </a:solidFill>
                <a:latin typeface="Gmarket Sans Light"/>
              </a:rPr>
              <a:t> </a:t>
            </a: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53600" y="3733800"/>
            <a:ext cx="1257300" cy="4191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9906000" y="3835400"/>
            <a:ext cx="9398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200" b="0" i="0" u="none" strike="noStrike">
                <a:solidFill>
                  <a:srgbClr val="598EFF"/>
                </a:solidFill>
                <a:latin typeface="Gmarket Sans Medium"/>
              </a:rPr>
              <a:t>chapter 02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264900" y="5524500"/>
            <a:ext cx="42926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2009"/>
              </a:lnSpc>
            </a:pPr>
            <a:r>
              <a:rPr lang="ko-KR" sz="3000" b="0" i="0" u="none" strike="noStrike" spc="200">
                <a:solidFill>
                  <a:srgbClr val="3567D3"/>
                </a:solidFill>
                <a:ea typeface="Gmarket Sans Medium"/>
              </a:rPr>
              <a:t>개발</a:t>
            </a:r>
            <a:r>
              <a:rPr lang="en-US" sz="3000" b="0" i="0" u="none" strike="noStrike" spc="2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3000" b="0" i="0" u="none" strike="noStrike" spc="200">
                <a:solidFill>
                  <a:srgbClr val="3567D3"/>
                </a:solidFill>
                <a:ea typeface="Gmarket Sans Medium"/>
              </a:rPr>
              <a:t>일정</a:t>
            </a:r>
            <a:r>
              <a:rPr lang="en-US" sz="3000" b="0" i="0" u="none" strike="noStrike" spc="200">
                <a:solidFill>
                  <a:srgbClr val="3567D3"/>
                </a:solidFill>
                <a:latin typeface="Gmarket Sans Medium"/>
              </a:rPr>
              <a:t> 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264900" y="6146800"/>
            <a:ext cx="3822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1970"/>
              </a:lnSpc>
            </a:pPr>
            <a:r>
              <a:rPr lang="ko-KR" sz="1700" b="0" i="0" u="none" strike="noStrike" spc="-100">
                <a:solidFill>
                  <a:srgbClr val="787878"/>
                </a:solidFill>
                <a:ea typeface="Gmarket Sans Light"/>
              </a:rPr>
              <a:t>주차</a:t>
            </a:r>
            <a:r>
              <a:rPr lang="en-US" sz="1700" b="0" i="0" u="none" strike="noStrike" spc="-100">
                <a:solidFill>
                  <a:srgbClr val="787878"/>
                </a:solidFill>
                <a:latin typeface="Gmarket Sans Light"/>
              </a:rPr>
              <a:t> </a:t>
            </a:r>
            <a:r>
              <a:rPr lang="ko-KR" sz="1700" b="0" i="0" u="none" strike="noStrike" spc="-100">
                <a:solidFill>
                  <a:srgbClr val="787878"/>
                </a:solidFill>
                <a:ea typeface="Gmarket Sans Light"/>
              </a:rPr>
              <a:t>별</a:t>
            </a:r>
            <a:r>
              <a:rPr lang="en-US" sz="1700" b="0" i="0" u="none" strike="noStrike" spc="-100">
                <a:solidFill>
                  <a:srgbClr val="787878"/>
                </a:solidFill>
                <a:latin typeface="Gmarket Sans Light"/>
              </a:rPr>
              <a:t> </a:t>
            </a:r>
            <a:r>
              <a:rPr lang="ko-KR" sz="1700" b="0" i="0" u="none" strike="noStrike" spc="-100">
                <a:solidFill>
                  <a:srgbClr val="787878"/>
                </a:solidFill>
                <a:ea typeface="Gmarket Sans Light"/>
              </a:rPr>
              <a:t>스프린트</a:t>
            </a:r>
            <a:r>
              <a:rPr lang="en-US" sz="1700" b="0" i="0" u="none" strike="noStrike" spc="-100">
                <a:solidFill>
                  <a:srgbClr val="787878"/>
                </a:solidFill>
                <a:latin typeface="Gmarket Sans Light"/>
              </a:rPr>
              <a:t> </a:t>
            </a:r>
            <a:r>
              <a:rPr lang="ko-KR" sz="1700" b="0" i="0" u="none" strike="noStrike" spc="-100">
                <a:solidFill>
                  <a:srgbClr val="787878"/>
                </a:solidFill>
                <a:ea typeface="Gmarket Sans Light"/>
              </a:rPr>
              <a:t>및</a:t>
            </a:r>
            <a:r>
              <a:rPr lang="en-US" sz="1700" b="0" i="0" u="none" strike="noStrike" spc="-100">
                <a:solidFill>
                  <a:srgbClr val="787878"/>
                </a:solidFill>
                <a:latin typeface="Gmarket Sans Light"/>
              </a:rPr>
              <a:t> </a:t>
            </a:r>
            <a:r>
              <a:rPr lang="ko-KR" sz="1700" b="0" i="0" u="none" strike="noStrike" spc="-100">
                <a:solidFill>
                  <a:srgbClr val="787878"/>
                </a:solidFill>
                <a:ea typeface="Gmarket Sans Light"/>
              </a:rPr>
              <a:t>전체</a:t>
            </a:r>
            <a:r>
              <a:rPr lang="en-US" sz="1700" b="0" i="0" u="none" strike="noStrike" spc="-100">
                <a:solidFill>
                  <a:srgbClr val="787878"/>
                </a:solidFill>
                <a:latin typeface="Gmarket Sans Light"/>
              </a:rPr>
              <a:t> </a:t>
            </a:r>
            <a:r>
              <a:rPr lang="ko-KR" sz="1700" b="0" i="0" u="none" strike="noStrike" spc="-100">
                <a:solidFill>
                  <a:srgbClr val="787878"/>
                </a:solidFill>
                <a:ea typeface="Gmarket Sans Light"/>
              </a:rPr>
              <a:t>요약</a:t>
            </a: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53600" y="5562600"/>
            <a:ext cx="1257300" cy="4191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9906000" y="5664200"/>
            <a:ext cx="9398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200" b="0" i="0" u="none" strike="noStrike">
                <a:solidFill>
                  <a:srgbClr val="598EFF"/>
                </a:solidFill>
                <a:latin typeface="Gmarket Sans Medium"/>
              </a:rPr>
              <a:t>chapter 04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264900" y="7429500"/>
            <a:ext cx="42926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2009"/>
              </a:lnSpc>
            </a:pPr>
            <a:r>
              <a:rPr lang="en-US" sz="3000" b="0" i="0" u="none" strike="noStrike" spc="200">
                <a:solidFill>
                  <a:srgbClr val="3567D3"/>
                </a:solidFill>
                <a:latin typeface="Gmarket Sans Medium"/>
              </a:rPr>
              <a:t> </a:t>
            </a:r>
            <a:r>
              <a:rPr lang="ko-KR" sz="3000" b="0" i="0" u="none" strike="noStrike" spc="200">
                <a:solidFill>
                  <a:srgbClr val="3567D3"/>
                </a:solidFill>
                <a:ea typeface="Gmarket Sans Medium"/>
              </a:rPr>
              <a:t>성과</a:t>
            </a:r>
            <a:r>
              <a:rPr lang="en-US" sz="3000" b="0" i="0" u="none" strike="noStrike" spc="2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3000" b="0" i="0" u="none" strike="noStrike" spc="200">
                <a:solidFill>
                  <a:srgbClr val="3567D3"/>
                </a:solidFill>
                <a:ea typeface="Gmarket Sans Medium"/>
              </a:rPr>
              <a:t>목표</a:t>
            </a:r>
            <a:r>
              <a:rPr lang="en-US" sz="3000" b="0" i="0" u="none" strike="noStrike" spc="2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3000" b="0" i="0" u="none" strike="noStrike" spc="200">
                <a:solidFill>
                  <a:srgbClr val="3567D3"/>
                </a:solidFill>
                <a:ea typeface="Gmarket Sans Medium"/>
              </a:rPr>
              <a:t>및</a:t>
            </a:r>
            <a:r>
              <a:rPr lang="en-US" sz="3000" b="0" i="0" u="none" strike="noStrike" spc="2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3000" b="0" i="0" u="none" strike="noStrike" spc="200">
                <a:solidFill>
                  <a:srgbClr val="3567D3"/>
                </a:solidFill>
                <a:ea typeface="Gmarket Sans Medium"/>
              </a:rPr>
              <a:t>확장성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264900" y="8039100"/>
            <a:ext cx="3822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1970"/>
              </a:lnSpc>
            </a:pPr>
            <a:r>
              <a:rPr lang="en-US" sz="1700" b="0" i="0" u="none" strike="noStrike" spc="-100">
                <a:solidFill>
                  <a:srgbClr val="787878"/>
                </a:solidFill>
                <a:latin typeface="Gmarket Sans Light"/>
              </a:rPr>
              <a:t>- </a:t>
            </a:r>
            <a:r>
              <a:rPr lang="ko-KR" sz="1700" b="0" i="0" u="none" strike="noStrike" spc="-100">
                <a:solidFill>
                  <a:srgbClr val="787878"/>
                </a:solidFill>
                <a:ea typeface="Gmarket Sans Light"/>
              </a:rPr>
              <a:t>내용을</a:t>
            </a:r>
            <a:r>
              <a:rPr lang="en-US" sz="1700" b="0" i="0" u="none" strike="noStrike" spc="-100">
                <a:solidFill>
                  <a:srgbClr val="787878"/>
                </a:solidFill>
                <a:latin typeface="Gmarket Sans Light"/>
              </a:rPr>
              <a:t> </a:t>
            </a:r>
            <a:r>
              <a:rPr lang="ko-KR" sz="1700" b="0" i="0" u="none" strike="noStrike" spc="-100">
                <a:solidFill>
                  <a:srgbClr val="787878"/>
                </a:solidFill>
                <a:ea typeface="Gmarket Sans Light"/>
              </a:rPr>
              <a:t>입력하세요</a:t>
            </a:r>
            <a:r>
              <a:rPr lang="en-US" sz="1700" b="0" i="0" u="none" strike="noStrike" spc="-100">
                <a:solidFill>
                  <a:srgbClr val="787878"/>
                </a:solidFill>
                <a:latin typeface="Gmarket Sans Light"/>
              </a:rPr>
              <a:t>- </a:t>
            </a:r>
            <a:r>
              <a:rPr lang="ko-KR" sz="1700" b="0" i="0" u="none" strike="noStrike" spc="-100">
                <a:solidFill>
                  <a:srgbClr val="787878"/>
                </a:solidFill>
                <a:ea typeface="Gmarket Sans Light"/>
              </a:rPr>
              <a:t>내용을</a:t>
            </a:r>
            <a:r>
              <a:rPr lang="en-US" sz="1700" b="0" i="0" u="none" strike="noStrike" spc="-100">
                <a:solidFill>
                  <a:srgbClr val="787878"/>
                </a:solidFill>
                <a:latin typeface="Gmarket Sans Light"/>
              </a:rPr>
              <a:t> </a:t>
            </a:r>
            <a:r>
              <a:rPr lang="ko-KR" sz="1700" b="0" i="0" u="none" strike="noStrike" spc="-100">
                <a:solidFill>
                  <a:srgbClr val="787878"/>
                </a:solidFill>
                <a:ea typeface="Gmarket Sans Light"/>
              </a:rPr>
              <a:t>입력하세요</a:t>
            </a: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53600" y="7467600"/>
            <a:ext cx="1257300" cy="419100"/>
          </a:xfrm>
          <a:prstGeom prst="rect">
            <a:avLst/>
          </a:prstGeom>
        </p:spPr>
      </p:pic>
      <p:sp>
        <p:nvSpPr>
          <p:cNvPr id="40" name="TextBox 40"/>
          <p:cNvSpPr txBox="1"/>
          <p:nvPr/>
        </p:nvSpPr>
        <p:spPr>
          <a:xfrm>
            <a:off x="9906000" y="7556500"/>
            <a:ext cx="9398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200" b="0" i="0" u="none" strike="noStrike">
                <a:solidFill>
                  <a:srgbClr val="598EFF"/>
                </a:solidFill>
                <a:latin typeface="Gmarket Sans Medium"/>
              </a:rPr>
              <a:t>chapter 06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42" name="TextBox 42"/>
          <p:cNvSpPr txBox="1"/>
          <p:nvPr/>
        </p:nvSpPr>
        <p:spPr>
          <a:xfrm>
            <a:off x="6527800" y="406400"/>
            <a:ext cx="9779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300" b="0" i="0" u="none" strike="noStrike" spc="300">
                <a:solidFill>
                  <a:srgbClr val="DDE0ED"/>
                </a:solidFill>
                <a:latin typeface="Gmarket Sans Bold"/>
              </a:rPr>
              <a:t>KOPO.</a:t>
            </a:r>
          </a:p>
          <a:p>
            <a:pPr lvl="0" algn="ctr">
              <a:lnSpc>
                <a:spcPct val="99600"/>
              </a:lnSpc>
            </a:pPr>
            <a:r>
              <a:rPr lang="en-US" sz="1300" b="0" i="0" u="none" strike="noStrike" spc="300">
                <a:solidFill>
                  <a:srgbClr val="DDE0ED"/>
                </a:solidFill>
                <a:latin typeface="Gmarket Sans Bold"/>
              </a:rPr>
              <a:t>AISW</a:t>
            </a:r>
          </a:p>
        </p:txBody>
      </p:sp>
      <p:pic>
        <p:nvPicPr>
          <p:cNvPr id="43" name="Picture 4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11900" y="508000"/>
            <a:ext cx="228600" cy="190500"/>
          </a:xfrm>
          <a:prstGeom prst="rect">
            <a:avLst/>
          </a:prstGeom>
        </p:spPr>
      </p:pic>
      <p:grpSp>
        <p:nvGrpSpPr>
          <p:cNvPr id="44" name="Group 4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45" name="TextBox 45"/>
          <p:cNvSpPr txBox="1"/>
          <p:nvPr/>
        </p:nvSpPr>
        <p:spPr>
          <a:xfrm>
            <a:off x="4292600" y="533400"/>
            <a:ext cx="9779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300" b="0" i="0" u="none" strike="noStrike" spc="300">
                <a:solidFill>
                  <a:srgbClr val="DDE0ED"/>
                </a:solidFill>
                <a:latin typeface="Gmarket Sans Bold"/>
              </a:rPr>
              <a:t>KOPO.</a:t>
            </a:r>
          </a:p>
          <a:p>
            <a:pPr lvl="0" algn="ctr">
              <a:lnSpc>
                <a:spcPct val="99600"/>
              </a:lnSpc>
            </a:pPr>
            <a:r>
              <a:rPr lang="en-US" sz="1300" b="0" i="0" u="none" strike="noStrike" spc="300">
                <a:solidFill>
                  <a:srgbClr val="DDE0ED"/>
                </a:solidFill>
                <a:latin typeface="Gmarket Sans Bold"/>
              </a:rPr>
              <a:t>AISW</a:t>
            </a:r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76700" y="635000"/>
            <a:ext cx="228600" cy="190500"/>
          </a:xfrm>
          <a:prstGeom prst="rect">
            <a:avLst/>
          </a:prstGeom>
        </p:spPr>
      </p:pic>
      <p:sp>
        <p:nvSpPr>
          <p:cNvPr id="47" name="TextBox 47"/>
          <p:cNvSpPr txBox="1"/>
          <p:nvPr/>
        </p:nvSpPr>
        <p:spPr>
          <a:xfrm>
            <a:off x="1803400" y="698500"/>
            <a:ext cx="1447800" cy="165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1000" b="0" i="0" u="none" strike="noStrike" spc="100">
                <a:solidFill>
                  <a:srgbClr val="787878"/>
                </a:solidFill>
                <a:ea typeface="Gmarket Sans Medium"/>
              </a:rPr>
              <a:t>발명과</a:t>
            </a:r>
            <a:r>
              <a:rPr lang="en-US" sz="1000" b="0" i="0" u="none" strike="noStrike" spc="100">
                <a:solidFill>
                  <a:srgbClr val="787878"/>
                </a:solidFill>
                <a:latin typeface="Gmarket Sans Medium"/>
              </a:rPr>
              <a:t> </a:t>
            </a:r>
            <a:r>
              <a:rPr lang="ko-KR" sz="1000" b="0" i="0" u="none" strike="noStrike" spc="100">
                <a:solidFill>
                  <a:srgbClr val="787878"/>
                </a:solidFill>
                <a:ea typeface="Gmarket Sans Medium"/>
              </a:rPr>
              <a:t>창업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596900"/>
            <a:ext cx="2197100" cy="2146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200" y="584200"/>
            <a:ext cx="2197100" cy="2146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584200"/>
            <a:ext cx="2197100" cy="2146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900" y="571500"/>
            <a:ext cx="2197100" cy="2146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571500"/>
            <a:ext cx="2197100" cy="2146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900" y="482600"/>
            <a:ext cx="2895600" cy="2146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536700" y="635000"/>
            <a:ext cx="24511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500" b="0" i="0" u="none" strike="noStrike" spc="100">
                <a:solidFill>
                  <a:srgbClr val="598EFF"/>
                </a:solidFill>
                <a:latin typeface="Gmarket Sans Medium"/>
              </a:rPr>
              <a:t>1. </a:t>
            </a:r>
            <a:r>
              <a:rPr lang="ko-KR" sz="1500" b="0" i="0" u="none" strike="noStrike" spc="100">
                <a:solidFill>
                  <a:srgbClr val="598EFF"/>
                </a:solidFill>
                <a:ea typeface="Gmarket Sans Medium"/>
              </a:rPr>
              <a:t>프로젝트</a:t>
            </a:r>
            <a:r>
              <a:rPr lang="en-US" sz="1500" b="0" i="0" u="none" strike="noStrike" spc="10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1500" b="0" i="0" u="none" strike="noStrike" spc="100">
                <a:solidFill>
                  <a:srgbClr val="598EFF"/>
                </a:solidFill>
                <a:ea typeface="Gmarket Sans Medium"/>
              </a:rPr>
              <a:t>개요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1016000"/>
            <a:ext cx="16687800" cy="8763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6700" y="1701800"/>
            <a:ext cx="12687300" cy="1041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65300" y="1930400"/>
            <a:ext cx="558800" cy="558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3690600" y="2222500"/>
            <a:ext cx="673100" cy="25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156200" y="1803400"/>
            <a:ext cx="7988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프로젝트</a:t>
            </a:r>
            <a:r>
              <a:rPr lang="en-US" sz="4500" b="0" i="0" u="none" strike="noStrike" spc="1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개요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6400" y="1828800"/>
            <a:ext cx="1892300" cy="7747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3835400" y="1968500"/>
            <a:ext cx="7493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>
                <a:solidFill>
                  <a:srgbClr val="FFFFFF"/>
                </a:solidFill>
                <a:latin typeface="Gmarket Sans Medium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36900" y="2108200"/>
            <a:ext cx="8890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Gmarket Sans Medium"/>
              </a:rPr>
              <a:t>chapter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>
            <a:off x="2120900" y="3136900"/>
            <a:ext cx="14046200" cy="60198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63900" y="4368800"/>
            <a:ext cx="317500" cy="3175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3822700" y="4292600"/>
            <a:ext cx="107188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2009"/>
              </a:lnSpc>
            </a:pPr>
            <a:r>
              <a:rPr lang="ko-KR" sz="2500" b="0" i="0" u="none" strike="noStrike" spc="200">
                <a:solidFill>
                  <a:srgbClr val="3567D3"/>
                </a:solidFill>
                <a:ea typeface="Gmarket Sans Medium"/>
              </a:rPr>
              <a:t>선택하게</a:t>
            </a:r>
            <a:r>
              <a:rPr lang="en-US" sz="2500" b="0" i="0" u="none" strike="noStrike" spc="2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2500" b="0" i="0" u="none" strike="noStrike" spc="200">
                <a:solidFill>
                  <a:srgbClr val="3567D3"/>
                </a:solidFill>
                <a:ea typeface="Gmarket Sans Medium"/>
              </a:rPr>
              <a:t>된</a:t>
            </a:r>
            <a:r>
              <a:rPr lang="en-US" sz="2500" b="0" i="0" u="none" strike="noStrike" spc="2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2500" b="0" i="0" u="none" strike="noStrike" spc="200">
                <a:solidFill>
                  <a:srgbClr val="3567D3"/>
                </a:solidFill>
                <a:ea typeface="Gmarket Sans Medium"/>
              </a:rPr>
              <a:t>배경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63900" y="6210300"/>
            <a:ext cx="317500" cy="3175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3822700" y="6134100"/>
            <a:ext cx="107188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2009"/>
              </a:lnSpc>
            </a:pPr>
            <a:r>
              <a:rPr lang="ko-KR" sz="2500" b="0" i="0" u="none" strike="noStrike" spc="200">
                <a:solidFill>
                  <a:srgbClr val="3567D3"/>
                </a:solidFill>
                <a:ea typeface="Gmarket Sans Medium"/>
              </a:rPr>
              <a:t>문제점과</a:t>
            </a:r>
            <a:r>
              <a:rPr lang="en-US" sz="2500" b="0" i="0" u="none" strike="noStrike" spc="2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2500" b="0" i="0" u="none" strike="noStrike" spc="200">
                <a:solidFill>
                  <a:srgbClr val="3567D3"/>
                </a:solidFill>
                <a:ea typeface="Gmarket Sans Medium"/>
              </a:rPr>
              <a:t>개선</a:t>
            </a:r>
            <a:r>
              <a:rPr lang="en-US" sz="2500" b="0" i="0" u="none" strike="noStrike" spc="2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2500" b="0" i="0" u="none" strike="noStrike" spc="200">
                <a:solidFill>
                  <a:srgbClr val="3567D3"/>
                </a:solidFill>
                <a:ea typeface="Gmarket Sans Medium"/>
              </a:rPr>
              <a:t>방향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63900" y="7962900"/>
            <a:ext cx="317500" cy="3175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44800" y="5372100"/>
            <a:ext cx="12585700" cy="25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44800" y="7340600"/>
            <a:ext cx="12585700" cy="254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3822700" y="7886700"/>
            <a:ext cx="107188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2009"/>
              </a:lnSpc>
            </a:pPr>
            <a:r>
              <a:rPr lang="ko-KR" sz="2500" b="0" i="0" u="none" strike="noStrike" spc="200">
                <a:solidFill>
                  <a:srgbClr val="3567D3"/>
                </a:solidFill>
                <a:ea typeface="Gmarket Sans Medium"/>
              </a:rPr>
              <a:t>페르소나로</a:t>
            </a:r>
            <a:r>
              <a:rPr lang="en-US" sz="2500" b="0" i="0" u="none" strike="noStrike" spc="2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2500" b="0" i="0" u="none" strike="noStrike" spc="200">
                <a:solidFill>
                  <a:srgbClr val="3567D3"/>
                </a:solidFill>
                <a:ea typeface="Gmarket Sans Medium"/>
              </a:rPr>
              <a:t>보여주는</a:t>
            </a:r>
            <a:r>
              <a:rPr lang="en-US" sz="2500" b="0" i="0" u="none" strike="noStrike" spc="2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2500" b="0" i="0" u="none" strike="noStrike" spc="200">
                <a:solidFill>
                  <a:srgbClr val="3567D3"/>
                </a:solidFill>
                <a:ea typeface="Gmarket Sans Medium"/>
              </a:rPr>
              <a:t>예시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596900"/>
            <a:ext cx="2197100" cy="2146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200" y="584200"/>
            <a:ext cx="2197100" cy="2146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584200"/>
            <a:ext cx="2197100" cy="2146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900" y="571500"/>
            <a:ext cx="2197100" cy="2146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571500"/>
            <a:ext cx="2197100" cy="2146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900" y="482600"/>
            <a:ext cx="2895600" cy="2146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536700" y="635000"/>
            <a:ext cx="24511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500" b="0" i="0" u="none" strike="noStrike" spc="100">
                <a:solidFill>
                  <a:srgbClr val="598EFF"/>
                </a:solidFill>
                <a:latin typeface="Gmarket Sans Medium"/>
              </a:rPr>
              <a:t>1. </a:t>
            </a:r>
            <a:r>
              <a:rPr lang="ko-KR" sz="1500" b="0" i="0" u="none" strike="noStrike" spc="100">
                <a:solidFill>
                  <a:srgbClr val="598EFF"/>
                </a:solidFill>
                <a:ea typeface="Gmarket Sans Medium"/>
              </a:rPr>
              <a:t>프로젝트</a:t>
            </a:r>
            <a:r>
              <a:rPr lang="en-US" sz="1500" b="0" i="0" u="none" strike="noStrike" spc="10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1500" b="0" i="0" u="none" strike="noStrike" spc="100">
                <a:solidFill>
                  <a:srgbClr val="598EFF"/>
                </a:solidFill>
                <a:ea typeface="Gmarket Sans Medium"/>
              </a:rPr>
              <a:t>개요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" y="1066800"/>
            <a:ext cx="16687800" cy="8763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6700" y="1701800"/>
            <a:ext cx="12687300" cy="1041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2120900" y="3136900"/>
            <a:ext cx="14046200" cy="5930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0800" y="3136900"/>
            <a:ext cx="5283200" cy="5816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65300" y="1930400"/>
            <a:ext cx="558800" cy="558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3690600" y="2222500"/>
            <a:ext cx="673100" cy="25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156200" y="1803400"/>
            <a:ext cx="7988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프로젝트를</a:t>
            </a:r>
            <a:r>
              <a:rPr lang="en-US" sz="4500" b="0" i="0" u="none" strike="noStrike" spc="1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선택하게</a:t>
            </a:r>
            <a:r>
              <a:rPr lang="en-US" sz="4500" b="0" i="0" u="none" strike="noStrike" spc="1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된</a:t>
            </a:r>
            <a:r>
              <a:rPr lang="en-US" sz="4500" b="0" i="0" u="none" strike="noStrike" spc="1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배경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46400" y="1828800"/>
            <a:ext cx="1892300" cy="7747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3835400" y="1968500"/>
            <a:ext cx="7493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>
                <a:solidFill>
                  <a:srgbClr val="FFFFFF"/>
                </a:solidFill>
                <a:latin typeface="Gmarket Sans Medium"/>
              </a:rPr>
              <a:t>01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136900" y="2108200"/>
            <a:ext cx="8890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Gmarket Sans Medium"/>
              </a:rPr>
              <a:t>chapter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755900" y="3708400"/>
            <a:ext cx="8928100" cy="281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1" i="0" u="none" strike="noStrike">
                <a:solidFill>
                  <a:srgbClr val="000000"/>
                </a:solidFill>
                <a:ea typeface="Pretendard Regular"/>
              </a:rPr>
              <a:t>기숙사</a:t>
            </a:r>
            <a:r>
              <a:rPr lang="en-US" sz="30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1" i="0" u="none" strike="noStrike">
                <a:solidFill>
                  <a:srgbClr val="000000"/>
                </a:solidFill>
                <a:ea typeface="Pretendard Regular"/>
              </a:rPr>
              <a:t>점호</a:t>
            </a:r>
            <a:r>
              <a:rPr lang="en-US" sz="30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1" i="0" u="none" strike="noStrike">
                <a:solidFill>
                  <a:srgbClr val="000000"/>
                </a:solidFill>
                <a:ea typeface="Pretendard Regular"/>
              </a:rPr>
              <a:t>시스템</a:t>
            </a:r>
          </a:p>
          <a:p>
            <a:pPr marL="723900" lvl="1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○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불편한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요소</a:t>
            </a:r>
          </a:p>
          <a:p>
            <a:pPr marL="723900" lvl="1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○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비효율적인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문제점들</a:t>
            </a:r>
          </a:p>
          <a:p>
            <a:pPr lvl="0" algn="l">
              <a:lnSpc>
                <a:spcPct val="99600"/>
              </a:lnSpc>
            </a:pPr>
            <a:endParaRPr lang="ko-KR" sz="30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99600"/>
              </a:lnSpc>
            </a:pPr>
            <a:endParaRPr lang="ko-KR" sz="30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99600"/>
              </a:lnSpc>
            </a:pPr>
            <a:endParaRPr lang="ko-KR" sz="3000" b="0" i="0" u="none" strike="noStrike">
              <a:solidFill>
                <a:srgbClr val="000000"/>
              </a:solidFill>
              <a:ea typeface="Pretendard Regular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5481300" y="9055100"/>
            <a:ext cx="12827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출처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-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연합뉴스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596900"/>
            <a:ext cx="2197100" cy="2146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200" y="584200"/>
            <a:ext cx="2197100" cy="2146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584200"/>
            <a:ext cx="2197100" cy="2146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900" y="571500"/>
            <a:ext cx="2197100" cy="2146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571500"/>
            <a:ext cx="2197100" cy="2146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900" y="482600"/>
            <a:ext cx="2895600" cy="2146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536700" y="635000"/>
            <a:ext cx="24511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500" b="0" i="0" u="none" strike="noStrike" spc="100">
                <a:solidFill>
                  <a:srgbClr val="598EFF"/>
                </a:solidFill>
                <a:latin typeface="Gmarket Sans Medium"/>
              </a:rPr>
              <a:t>1. </a:t>
            </a:r>
            <a:r>
              <a:rPr lang="ko-KR" sz="1500" b="0" i="0" u="none" strike="noStrike" spc="100">
                <a:solidFill>
                  <a:srgbClr val="598EFF"/>
                </a:solidFill>
                <a:ea typeface="Gmarket Sans Medium"/>
              </a:rPr>
              <a:t>프로젝트</a:t>
            </a:r>
            <a:r>
              <a:rPr lang="en-US" sz="1500" b="0" i="0" u="none" strike="noStrike" spc="10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1500" b="0" i="0" u="none" strike="noStrike" spc="100">
                <a:solidFill>
                  <a:srgbClr val="598EFF"/>
                </a:solidFill>
                <a:ea typeface="Gmarket Sans Medium"/>
              </a:rPr>
              <a:t>개요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1016000"/>
            <a:ext cx="16687800" cy="8763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6700" y="1701800"/>
            <a:ext cx="12687300" cy="1041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65300" y="1930400"/>
            <a:ext cx="558800" cy="558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3690600" y="2222500"/>
            <a:ext cx="673100" cy="25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156200" y="1803400"/>
            <a:ext cx="7988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문제점과</a:t>
            </a:r>
            <a:r>
              <a:rPr lang="en-US" sz="4500" b="0" i="0" u="none" strike="noStrike" spc="1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개선</a:t>
            </a:r>
            <a:r>
              <a:rPr lang="en-US" sz="4500" b="0" i="0" u="none" strike="noStrike" spc="1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방향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6400" y="1828800"/>
            <a:ext cx="1892300" cy="7747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3835400" y="1968500"/>
            <a:ext cx="7493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>
                <a:solidFill>
                  <a:srgbClr val="FFFFFF"/>
                </a:solidFill>
                <a:latin typeface="Gmarket Sans Medium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36900" y="2108200"/>
            <a:ext cx="8890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Gmarket Sans Medium"/>
              </a:rPr>
              <a:t>chapter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>
            <a:off x="2120900" y="3136900"/>
            <a:ext cx="14046200" cy="59309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2120900" y="3924300"/>
            <a:ext cx="6680200" cy="218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1" i="0" u="none" strike="noStrike">
                <a:solidFill>
                  <a:srgbClr val="000000"/>
                </a:solidFill>
                <a:ea typeface="Pretendard Regular"/>
              </a:rPr>
              <a:t>점호</a:t>
            </a:r>
            <a:r>
              <a:rPr lang="en-US" sz="20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Regular"/>
              </a:rPr>
              <a:t>관련</a:t>
            </a:r>
            <a:r>
              <a:rPr lang="en-US" sz="20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Regular"/>
              </a:rPr>
              <a:t>사항</a:t>
            </a:r>
          </a:p>
          <a:p>
            <a:pPr marL="596900" lvl="1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○"/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학생이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방에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있어야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하고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관리자는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직접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확인해야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함</a:t>
            </a:r>
          </a:p>
          <a:p>
            <a:pPr lvl="0" algn="l">
              <a:lnSpc>
                <a:spcPct val="99600"/>
              </a:lnSpc>
            </a:pPr>
            <a:endParaRPr lang="ko-KR" sz="2000" b="0" i="0" u="none" strike="noStrike">
              <a:solidFill>
                <a:srgbClr val="000000"/>
              </a:solidFill>
              <a:ea typeface="Pretendard Regular"/>
            </a:endParaRP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1" i="0" u="none" strike="noStrike">
                <a:solidFill>
                  <a:srgbClr val="000000"/>
                </a:solidFill>
                <a:ea typeface="Pretendard Regular"/>
              </a:rPr>
              <a:t>외출</a:t>
            </a:r>
            <a:r>
              <a:rPr lang="en-US" sz="20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Regular"/>
              </a:rPr>
              <a:t>신청</a:t>
            </a:r>
          </a:p>
          <a:p>
            <a:pPr marL="596900" lvl="1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○"/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대면이나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전화로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진행되어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누락되기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쉽고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번거로움</a:t>
            </a:r>
          </a:p>
          <a:p>
            <a:pPr lvl="0" algn="l">
              <a:lnSpc>
                <a:spcPct val="99600"/>
              </a:lnSpc>
            </a:pPr>
            <a:endParaRPr lang="ko-KR" sz="2000" b="0" i="0" u="none" strike="noStrike">
              <a:solidFill>
                <a:srgbClr val="000000"/>
              </a:solidFill>
              <a:ea typeface="Pretendard Regular"/>
            </a:endParaRP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1" i="0" u="none" strike="noStrike">
                <a:solidFill>
                  <a:srgbClr val="000000"/>
                </a:solidFill>
                <a:ea typeface="Pretendard Regular"/>
              </a:rPr>
              <a:t>관리자</a:t>
            </a:r>
            <a:r>
              <a:rPr lang="en-US" sz="20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Regular"/>
              </a:rPr>
              <a:t>수기</a:t>
            </a:r>
            <a:r>
              <a:rPr lang="en-US" sz="20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Regular"/>
              </a:rPr>
              <a:t>작성의</a:t>
            </a:r>
            <a:r>
              <a:rPr lang="en-US" sz="20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Regular"/>
              </a:rPr>
              <a:t>번거로움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94800" y="3924300"/>
            <a:ext cx="6388100" cy="431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1" i="0" u="none" strike="noStrike">
                <a:solidFill>
                  <a:srgbClr val="000000"/>
                </a:solidFill>
                <a:latin typeface="Pretendard Regular"/>
              </a:rPr>
              <a:t>BLE </a:t>
            </a:r>
            <a:r>
              <a:rPr lang="ko-KR" sz="2000" b="1" i="0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20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Regular"/>
              </a:rPr>
              <a:t>위치</a:t>
            </a:r>
            <a:r>
              <a:rPr lang="en-US" sz="20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Regular"/>
              </a:rPr>
              <a:t>인증</a:t>
            </a:r>
          </a:p>
          <a:p>
            <a:pPr marL="596900" lvl="1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○"/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자동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점호</a:t>
            </a:r>
          </a:p>
          <a:p>
            <a:pPr lvl="0" algn="l">
              <a:lnSpc>
                <a:spcPct val="99600"/>
              </a:lnSpc>
            </a:pPr>
            <a:endParaRPr lang="ko-KR" sz="2000" b="0" i="0" u="none" strike="noStrike">
              <a:solidFill>
                <a:srgbClr val="000000"/>
              </a:solidFill>
              <a:ea typeface="Pretendard Regular"/>
            </a:endParaRP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앱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내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외출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신청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기능</a:t>
            </a:r>
          </a:p>
          <a:p>
            <a:pPr marL="596900" lvl="1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○"/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간편한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신청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관리자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실시간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확인</a:t>
            </a:r>
          </a:p>
          <a:p>
            <a:pPr lvl="0" algn="l">
              <a:lnSpc>
                <a:spcPct val="99600"/>
              </a:lnSpc>
            </a:pPr>
            <a:endParaRPr lang="ko-KR" sz="2000" b="0" i="0" u="none" strike="noStrike">
              <a:solidFill>
                <a:srgbClr val="000000"/>
              </a:solidFill>
              <a:ea typeface="Pretendard Regular"/>
            </a:endParaRP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1" i="0" u="none" strike="noStrike">
                <a:solidFill>
                  <a:srgbClr val="000000"/>
                </a:solidFill>
                <a:ea typeface="Pretendard Regular"/>
              </a:rPr>
              <a:t>관리자</a:t>
            </a:r>
            <a:r>
              <a:rPr lang="en-US" sz="20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Regular"/>
              </a:rPr>
              <a:t>웹</a:t>
            </a:r>
            <a:r>
              <a:rPr lang="en-US" sz="20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Regular"/>
              </a:rPr>
              <a:t>대시보드</a:t>
            </a:r>
          </a:p>
          <a:p>
            <a:pPr marL="596900" lvl="1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○"/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자동화된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출결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현황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확인</a:t>
            </a:r>
          </a:p>
          <a:p>
            <a:pPr lvl="0" algn="l">
              <a:lnSpc>
                <a:spcPct val="99600"/>
              </a:lnSpc>
            </a:pPr>
            <a:endParaRPr lang="ko-KR" sz="20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99600"/>
              </a:lnSpc>
            </a:pPr>
            <a:endParaRPr lang="ko-KR" sz="20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99600"/>
              </a:lnSpc>
            </a:pPr>
            <a:endParaRPr lang="ko-KR" sz="20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99600"/>
              </a:lnSpc>
            </a:pPr>
            <a:endParaRPr lang="ko-KR" sz="2000" b="0" i="0" u="none" strike="noStrike">
              <a:solidFill>
                <a:srgbClr val="000000"/>
              </a:solidFill>
              <a:ea typeface="Pretendard Regular"/>
            </a:endParaRP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1" i="0" u="none" strike="noStrike">
                <a:solidFill>
                  <a:srgbClr val="000000"/>
                </a:solidFill>
                <a:ea typeface="Pretendard Regular"/>
              </a:rPr>
              <a:t>푸시</a:t>
            </a:r>
            <a:r>
              <a:rPr lang="en-US" sz="20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Regular"/>
              </a:rPr>
              <a:t>알림</a:t>
            </a:r>
            <a:r>
              <a:rPr lang="en-US" sz="2000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1" i="0" u="none" strike="noStrike">
                <a:solidFill>
                  <a:srgbClr val="000000"/>
                </a:solidFill>
                <a:ea typeface="Pretendard Regular"/>
              </a:rPr>
              <a:t>연동</a:t>
            </a:r>
          </a:p>
          <a:p>
            <a:pPr marL="596900" lvl="1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○"/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미입실자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자동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알림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전송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596900"/>
            <a:ext cx="2197100" cy="2146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200" y="584200"/>
            <a:ext cx="2197100" cy="2146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584200"/>
            <a:ext cx="2197100" cy="2146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900" y="571500"/>
            <a:ext cx="2197100" cy="2146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571500"/>
            <a:ext cx="2197100" cy="2146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900" y="482600"/>
            <a:ext cx="2895600" cy="2146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536700" y="635000"/>
            <a:ext cx="24511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500" b="0" i="0" u="none" strike="noStrike" spc="100">
                <a:solidFill>
                  <a:srgbClr val="598EFF"/>
                </a:solidFill>
                <a:latin typeface="Gmarket Sans Medium"/>
              </a:rPr>
              <a:t>1. </a:t>
            </a:r>
            <a:r>
              <a:rPr lang="ko-KR" sz="1500" b="0" i="0" u="none" strike="noStrike" spc="100">
                <a:solidFill>
                  <a:srgbClr val="598EFF"/>
                </a:solidFill>
                <a:ea typeface="Gmarket Sans Medium"/>
              </a:rPr>
              <a:t>프로젝트</a:t>
            </a:r>
            <a:r>
              <a:rPr lang="en-US" sz="1500" b="0" i="0" u="none" strike="noStrike" spc="10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1500" b="0" i="0" u="none" strike="noStrike" spc="100">
                <a:solidFill>
                  <a:srgbClr val="598EFF"/>
                </a:solidFill>
                <a:ea typeface="Gmarket Sans Medium"/>
              </a:rPr>
              <a:t>개요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1016000"/>
            <a:ext cx="16687800" cy="8763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6700" y="1701800"/>
            <a:ext cx="12687300" cy="1041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65300" y="1930400"/>
            <a:ext cx="558800" cy="558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3690600" y="2222500"/>
            <a:ext cx="673100" cy="25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422900" y="1765300"/>
            <a:ext cx="74295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페르소나로</a:t>
            </a:r>
            <a:r>
              <a:rPr lang="en-US" sz="4500" b="0" i="0" u="none" strike="noStrike" spc="1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보여주는</a:t>
            </a:r>
            <a:r>
              <a:rPr lang="en-US" sz="4500" b="0" i="0" u="none" strike="noStrike" spc="1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예시</a:t>
            </a:r>
            <a:r>
              <a:rPr lang="en-US" sz="4500" b="0" i="0" u="none" strike="noStrike" spc="100">
                <a:solidFill>
                  <a:srgbClr val="3567D3"/>
                </a:solidFill>
                <a:latin typeface="Gmarket Sans Medium"/>
              </a:rPr>
              <a:t>(1)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6400" y="1828800"/>
            <a:ext cx="1892300" cy="7747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3835400" y="1968500"/>
            <a:ext cx="7493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>
                <a:solidFill>
                  <a:srgbClr val="FFFFFF"/>
                </a:solidFill>
                <a:latin typeface="Gmarket Sans Medium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36900" y="2108200"/>
            <a:ext cx="8890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Gmarket Sans Medium"/>
              </a:rPr>
              <a:t>chapter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>
            <a:off x="2120900" y="3136900"/>
            <a:ext cx="14046200" cy="5930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99500" y="5397500"/>
            <a:ext cx="889000" cy="8890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3340100" y="4305300"/>
            <a:ext cx="7747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도입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668000" y="4305300"/>
            <a:ext cx="8382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도입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후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06700" y="3340100"/>
            <a:ext cx="52705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Regular"/>
              </a:rPr>
              <a:t>마동석</a:t>
            </a:r>
            <a:r>
              <a:rPr lang="en-US" sz="1900" b="0" i="0" u="none" strike="noStrike">
                <a:solidFill>
                  <a:srgbClr val="000000"/>
                </a:solidFill>
                <a:latin typeface="Pretendard Regular"/>
              </a:rPr>
              <a:t> (25</a:t>
            </a:r>
            <a:r>
              <a:rPr lang="ko-KR" sz="1900" b="0" i="0" u="none" strike="noStrike">
                <a:solidFill>
                  <a:srgbClr val="000000"/>
                </a:solidFill>
                <a:ea typeface="Pretendard Regular"/>
              </a:rPr>
              <a:t>세</a:t>
            </a:r>
            <a:r>
              <a:rPr lang="en-US" sz="19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900" b="0" i="0" u="none" strike="noStrike">
                <a:solidFill>
                  <a:srgbClr val="000000"/>
                </a:solidFill>
                <a:ea typeface="Pretendard Regular"/>
              </a:rPr>
              <a:t>대학</a:t>
            </a:r>
            <a:r>
              <a:rPr lang="en-US" sz="19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Regular"/>
              </a:rPr>
              <a:t>복학생</a:t>
            </a:r>
            <a:r>
              <a:rPr lang="en-US" sz="1900" b="0" i="0" u="none" strike="noStrike">
                <a:solidFill>
                  <a:srgbClr val="000000"/>
                </a:solidFill>
                <a:latin typeface="Pretendard Regular"/>
              </a:rPr>
              <a:t>, INTJ)</a:t>
            </a:r>
          </a:p>
          <a:p>
            <a:pPr lvl="0" algn="l">
              <a:lnSpc>
                <a:spcPct val="99600"/>
              </a:lnSpc>
            </a:pPr>
            <a:r>
              <a:rPr lang="en-US" sz="1900" b="0" i="0" u="none" strike="noStrike">
                <a:solidFill>
                  <a:srgbClr val="000000"/>
                </a:solidFill>
                <a:latin typeface="Pretendard Regular"/>
              </a:rPr>
              <a:t>“</a:t>
            </a:r>
            <a:r>
              <a:rPr lang="ko-KR" sz="1900" b="0" i="0" u="none" strike="noStrike">
                <a:solidFill>
                  <a:srgbClr val="000000"/>
                </a:solidFill>
                <a:ea typeface="Pretendard Regular"/>
              </a:rPr>
              <a:t>효율적이지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Regular"/>
              </a:rPr>
              <a:t>않은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Regular"/>
              </a:rPr>
              <a:t>점호</a:t>
            </a:r>
            <a:r>
              <a:rPr lang="en-US" sz="19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Regular"/>
              </a:rPr>
              <a:t>시스템이</a:t>
            </a:r>
            <a:r>
              <a:rPr lang="en-US" sz="19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Regular"/>
              </a:rPr>
              <a:t>너무</a:t>
            </a:r>
            <a:r>
              <a:rPr lang="en-US" sz="19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Regular"/>
              </a:rPr>
              <a:t>번거로웠어요</a:t>
            </a:r>
            <a:r>
              <a:rPr lang="en-US" sz="1900" b="0" i="0" u="none" strike="noStrike">
                <a:solidFill>
                  <a:srgbClr val="000000"/>
                </a:solidFill>
                <a:latin typeface="Pretendard Regular"/>
              </a:rPr>
              <a:t>.”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984500" y="4889500"/>
            <a:ext cx="4508500" cy="218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매일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점호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시간마다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방에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있어야만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출석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인정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99600"/>
              </a:lnSpc>
            </a:pPr>
            <a:endParaRPr lang="en-US" sz="2000" b="0" i="0" u="none" strike="noStrike">
              <a:solidFill>
                <a:srgbClr val="000000"/>
              </a:solidFill>
              <a:latin typeface="Pretendard Regular"/>
            </a:endParaRPr>
          </a:p>
          <a:p>
            <a:pPr lvl="0" algn="l">
              <a:lnSpc>
                <a:spcPct val="99600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스터디카페나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공용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공간에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있으면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점호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위해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이동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필요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99600"/>
              </a:lnSpc>
            </a:pPr>
            <a:endParaRPr lang="en-US" sz="2000" b="0" i="0" u="none" strike="noStrike">
              <a:solidFill>
                <a:srgbClr val="000000"/>
              </a:solidFill>
              <a:latin typeface="Pretendard Regular"/>
            </a:endParaRPr>
          </a:p>
          <a:p>
            <a:pPr lvl="0" algn="l">
              <a:lnSpc>
                <a:spcPct val="99600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외출할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때는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사감에게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전화하거나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직접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가서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신청해야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해서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귀찮고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비효율적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77500" y="4889500"/>
            <a:ext cx="4927600" cy="401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BLE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신호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범위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내에서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앱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실행만으로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자동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점호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완료</a:t>
            </a:r>
          </a:p>
          <a:p>
            <a:pPr lvl="0" algn="l">
              <a:lnSpc>
                <a:spcPct val="99600"/>
              </a:lnSpc>
            </a:pPr>
            <a:endParaRPr lang="ko-KR" sz="20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99600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방에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없어도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기숙사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내에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있으면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출석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인정됨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99600"/>
              </a:lnSpc>
            </a:pPr>
            <a:endParaRPr lang="en-US" sz="2000" b="0" i="0" u="none" strike="noStrike">
              <a:solidFill>
                <a:srgbClr val="000000"/>
              </a:solidFill>
              <a:latin typeface="Pretendard Regular"/>
            </a:endParaRPr>
          </a:p>
          <a:p>
            <a:pPr lvl="0" algn="l">
              <a:lnSpc>
                <a:spcPct val="99600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외출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신청도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앱으로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실시간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처리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가능</a:t>
            </a:r>
          </a:p>
          <a:p>
            <a:pPr lvl="0" algn="l">
              <a:lnSpc>
                <a:spcPct val="99600"/>
              </a:lnSpc>
            </a:pPr>
            <a:endParaRPr lang="ko-KR" sz="20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99600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공지사항도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앱에서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확인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가능하니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따로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문의할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필요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없음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99600"/>
              </a:lnSpc>
            </a:pPr>
            <a:endParaRPr lang="en-US" sz="2000" b="0" i="0" u="none" strike="noStrike">
              <a:solidFill>
                <a:srgbClr val="000000"/>
              </a:solidFill>
              <a:latin typeface="Pretendard Regular"/>
            </a:endParaRPr>
          </a:p>
          <a:p>
            <a:pPr lvl="0" algn="l">
              <a:lnSpc>
                <a:spcPct val="99600"/>
              </a:lnSpc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*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포인트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제도로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점호와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외출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규칙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잘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지키면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매점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포인트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적립돼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동기부여됨</a:t>
            </a:r>
          </a:p>
          <a:p>
            <a:pPr lvl="0" algn="l">
              <a:lnSpc>
                <a:spcPct val="99600"/>
              </a:lnSpc>
            </a:pPr>
            <a:endParaRPr lang="ko-KR" sz="20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99600"/>
              </a:lnSpc>
            </a:pPr>
            <a:endParaRPr lang="ko-KR" sz="20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99600"/>
              </a:lnSpc>
            </a:pPr>
            <a:endParaRPr lang="ko-KR" sz="20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99600"/>
              </a:lnSpc>
            </a:pPr>
            <a:endParaRPr lang="ko-KR" sz="2000" b="0" i="0" u="none" strike="noStrike">
              <a:solidFill>
                <a:srgbClr val="000000"/>
              </a:solidFill>
              <a:ea typeface="Pretendard Regula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596900"/>
            <a:ext cx="2197100" cy="2146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200" y="584200"/>
            <a:ext cx="2197100" cy="2146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584200"/>
            <a:ext cx="2197100" cy="2146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900" y="571500"/>
            <a:ext cx="2197100" cy="2146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571500"/>
            <a:ext cx="2197100" cy="2146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900" y="482600"/>
            <a:ext cx="2895600" cy="2146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536700" y="635000"/>
            <a:ext cx="24511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500" b="0" i="0" u="none" strike="noStrike" spc="100">
                <a:solidFill>
                  <a:srgbClr val="598EFF"/>
                </a:solidFill>
                <a:latin typeface="Gmarket Sans Medium"/>
              </a:rPr>
              <a:t>1. </a:t>
            </a:r>
            <a:r>
              <a:rPr lang="ko-KR" sz="1500" b="0" i="0" u="none" strike="noStrike" spc="100">
                <a:solidFill>
                  <a:srgbClr val="598EFF"/>
                </a:solidFill>
                <a:ea typeface="Gmarket Sans Medium"/>
              </a:rPr>
              <a:t>프로젝트</a:t>
            </a:r>
            <a:r>
              <a:rPr lang="en-US" sz="1500" b="0" i="0" u="none" strike="noStrike" spc="10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1500" b="0" i="0" u="none" strike="noStrike" spc="100">
                <a:solidFill>
                  <a:srgbClr val="598EFF"/>
                </a:solidFill>
                <a:ea typeface="Gmarket Sans Medium"/>
              </a:rPr>
              <a:t>개요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1016000"/>
            <a:ext cx="16687800" cy="8763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6700" y="1701800"/>
            <a:ext cx="12687300" cy="1041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65300" y="1930400"/>
            <a:ext cx="558800" cy="558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3690600" y="2222500"/>
            <a:ext cx="673100" cy="25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156200" y="1803400"/>
            <a:ext cx="7988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페르소나로</a:t>
            </a:r>
            <a:r>
              <a:rPr lang="en-US" sz="4500" b="0" i="0" u="none" strike="noStrike" spc="1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보여주는</a:t>
            </a:r>
            <a:r>
              <a:rPr lang="en-US" sz="4500" b="0" i="0" u="none" strike="noStrike" spc="1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예시</a:t>
            </a:r>
            <a:r>
              <a:rPr lang="en-US" sz="4500" b="0" i="0" u="none" strike="noStrike" spc="100">
                <a:solidFill>
                  <a:srgbClr val="3567D3"/>
                </a:solidFill>
                <a:latin typeface="Gmarket Sans Medium"/>
              </a:rPr>
              <a:t>(2)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6400" y="1828800"/>
            <a:ext cx="1892300" cy="7747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3835400" y="1968500"/>
            <a:ext cx="7493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>
                <a:solidFill>
                  <a:srgbClr val="FFFFFF"/>
                </a:solidFill>
                <a:latin typeface="Gmarket Sans Medium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36900" y="2108200"/>
            <a:ext cx="8890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Gmarket Sans Medium"/>
              </a:rPr>
              <a:t>chapter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>
            <a:off x="2120900" y="3136900"/>
            <a:ext cx="14046200" cy="5930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99500" y="5397500"/>
            <a:ext cx="889000" cy="8890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3340100" y="4305300"/>
            <a:ext cx="7747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도입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668000" y="4305300"/>
            <a:ext cx="8382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도입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후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06700" y="3429000"/>
            <a:ext cx="63881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Regular"/>
              </a:rPr>
              <a:t>노진구</a:t>
            </a:r>
            <a:r>
              <a:rPr lang="en-US" sz="1900" b="0" i="0" u="none" strike="noStrike">
                <a:solidFill>
                  <a:srgbClr val="000000"/>
                </a:solidFill>
                <a:latin typeface="Pretendard Regular"/>
              </a:rPr>
              <a:t> (48</a:t>
            </a:r>
            <a:r>
              <a:rPr lang="ko-KR" sz="1900" b="0" i="0" u="none" strike="noStrike">
                <a:solidFill>
                  <a:srgbClr val="000000"/>
                </a:solidFill>
                <a:ea typeface="Pretendard Regular"/>
              </a:rPr>
              <a:t>세</a:t>
            </a:r>
            <a:r>
              <a:rPr lang="en-US" sz="19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900" b="0" i="0" u="none" strike="noStrike">
                <a:solidFill>
                  <a:srgbClr val="000000"/>
                </a:solidFill>
                <a:ea typeface="Pretendard Regular"/>
              </a:rPr>
              <a:t>기숙사</a:t>
            </a:r>
            <a:r>
              <a:rPr lang="en-US" sz="19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Regular"/>
              </a:rPr>
              <a:t>사감</a:t>
            </a:r>
            <a:r>
              <a:rPr lang="en-US" sz="1900" b="0" i="0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  <a:p>
            <a:pPr lvl="0" algn="l">
              <a:lnSpc>
                <a:spcPct val="99600"/>
              </a:lnSpc>
            </a:pPr>
            <a:r>
              <a:rPr lang="en-US" sz="1900" b="0" i="0" u="none" strike="noStrike">
                <a:solidFill>
                  <a:srgbClr val="000000"/>
                </a:solidFill>
                <a:latin typeface="Pretendard Regular"/>
              </a:rPr>
              <a:t>“</a:t>
            </a:r>
            <a:r>
              <a:rPr lang="ko-KR" sz="1900" b="0" i="0" u="none" strike="noStrike">
                <a:solidFill>
                  <a:srgbClr val="000000"/>
                </a:solidFill>
                <a:ea typeface="Pretendard Regular"/>
              </a:rPr>
              <a:t>무릎</a:t>
            </a:r>
            <a:r>
              <a:rPr lang="en-US" sz="19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Regular"/>
              </a:rPr>
              <a:t>수술</a:t>
            </a:r>
            <a:r>
              <a:rPr lang="en-US" sz="19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Regular"/>
              </a:rPr>
              <a:t>이후</a:t>
            </a:r>
            <a:r>
              <a:rPr lang="en-US" sz="19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Regular"/>
              </a:rPr>
              <a:t>직접</a:t>
            </a:r>
            <a:r>
              <a:rPr lang="en-US" sz="19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Regular"/>
              </a:rPr>
              <a:t>다니며</a:t>
            </a:r>
            <a:r>
              <a:rPr lang="en-US" sz="19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Regular"/>
              </a:rPr>
              <a:t>점호</a:t>
            </a:r>
            <a:r>
              <a:rPr lang="en-US" sz="19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Regular"/>
              </a:rPr>
              <a:t>확인하기가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Regular"/>
              </a:rPr>
              <a:t>정말</a:t>
            </a:r>
            <a:r>
              <a:rPr lang="en-US" sz="19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Regular"/>
              </a:rPr>
              <a:t>힘들었습니다</a:t>
            </a:r>
            <a:r>
              <a:rPr lang="en-US" sz="1900" b="0" i="0" u="none" strike="noStrike">
                <a:solidFill>
                  <a:srgbClr val="000000"/>
                </a:solidFill>
                <a:latin typeface="Pretendard Regular"/>
              </a:rPr>
              <a:t>.”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984500" y="4889500"/>
            <a:ext cx="4648200" cy="2794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매일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직접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기숙사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방을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돌며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점호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99600"/>
              </a:lnSpc>
            </a:pPr>
            <a:endParaRPr lang="en-US" sz="2000" b="0" i="0" u="none" strike="noStrike">
              <a:solidFill>
                <a:srgbClr val="000000"/>
              </a:solidFill>
              <a:latin typeface="Pretendard Regular"/>
            </a:endParaRPr>
          </a:p>
          <a:p>
            <a:pPr lvl="0" algn="l">
              <a:lnSpc>
                <a:spcPct val="99600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학생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외출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여부는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수기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작성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전화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응대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등으로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처리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99600"/>
              </a:lnSpc>
            </a:pPr>
            <a:endParaRPr lang="en-US" sz="2000" b="0" i="0" u="none" strike="noStrike">
              <a:solidFill>
                <a:srgbClr val="000000"/>
              </a:solidFill>
              <a:latin typeface="Pretendard Regular"/>
            </a:endParaRPr>
          </a:p>
          <a:p>
            <a:pPr lvl="0" algn="l">
              <a:lnSpc>
                <a:spcPct val="99600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출석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누락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여부를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일일이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확인해야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했고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대리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점호도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많았음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99600"/>
              </a:lnSpc>
            </a:pPr>
            <a:endParaRPr lang="en-US" sz="2000" b="0" i="0" u="none" strike="noStrike">
              <a:solidFill>
                <a:srgbClr val="000000"/>
              </a:solidFill>
              <a:latin typeface="Pretendard Regular"/>
            </a:endParaRPr>
          </a:p>
          <a:p>
            <a:pPr lvl="0" algn="l">
              <a:lnSpc>
                <a:spcPct val="99600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공지사항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전달도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구두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인쇄물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위주로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비효율적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77500" y="4889500"/>
            <a:ext cx="5194300" cy="2794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웹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대시보드에서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실시간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출석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외출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현황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확인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가능</a:t>
            </a:r>
          </a:p>
          <a:p>
            <a:pPr lvl="0" algn="l">
              <a:lnSpc>
                <a:spcPct val="99600"/>
              </a:lnSpc>
            </a:pPr>
            <a:endParaRPr lang="ko-KR" sz="20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99600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학생별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포인트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현황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외출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이력도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자동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기록됨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99600"/>
              </a:lnSpc>
            </a:pPr>
            <a:endParaRPr lang="en-US" sz="2000" b="0" i="0" u="none" strike="noStrike">
              <a:solidFill>
                <a:srgbClr val="000000"/>
              </a:solidFill>
              <a:latin typeface="Pretendard Regular"/>
            </a:endParaRPr>
          </a:p>
          <a:p>
            <a:pPr lvl="0" algn="l">
              <a:lnSpc>
                <a:spcPct val="99600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공지사항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게시판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기능으로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전체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공지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작성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수정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삭제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가능</a:t>
            </a:r>
          </a:p>
          <a:p>
            <a:pPr lvl="0" algn="l">
              <a:lnSpc>
                <a:spcPct val="99600"/>
              </a:lnSpc>
            </a:pPr>
            <a:endParaRPr lang="ko-KR" sz="20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99600"/>
              </a:lnSpc>
            </a:pP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누가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안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읽었는지도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통계로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확인돼서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정확한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전달</a:t>
            </a: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/>
                </a:solidFill>
                <a:ea typeface="Pretendard Regular"/>
              </a:rPr>
              <a:t>가능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596900"/>
            <a:ext cx="2197100" cy="2146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200" y="584200"/>
            <a:ext cx="2197100" cy="2146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584200"/>
            <a:ext cx="2197100" cy="2146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900" y="571500"/>
            <a:ext cx="2197100" cy="2146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571500"/>
            <a:ext cx="2197100" cy="2146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400" y="482600"/>
            <a:ext cx="2895600" cy="2146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1016000"/>
            <a:ext cx="16687800" cy="8763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3124200" y="635000"/>
            <a:ext cx="24511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500" b="0" i="0" u="none" strike="noStrike" spc="100">
                <a:solidFill>
                  <a:srgbClr val="598EFF"/>
                </a:solidFill>
                <a:latin typeface="Gmarket Sans Medium"/>
              </a:rPr>
              <a:t>2.</a:t>
            </a:r>
            <a:r>
              <a:rPr lang="ko-KR" sz="1500" b="0" i="0" u="none" strike="noStrike" spc="100">
                <a:solidFill>
                  <a:srgbClr val="598EFF"/>
                </a:solidFill>
                <a:ea typeface="Gmarket Sans Medium"/>
              </a:rPr>
              <a:t>주요</a:t>
            </a:r>
            <a:r>
              <a:rPr lang="en-US" sz="1500" b="0" i="0" u="none" strike="noStrike" spc="10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1500" b="0" i="0" u="none" strike="noStrike" spc="100">
                <a:solidFill>
                  <a:srgbClr val="598EFF"/>
                </a:solidFill>
                <a:ea typeface="Gmarket Sans Medium"/>
              </a:rPr>
              <a:t>기능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alphaModFix amt="44000"/>
          </a:blip>
          <a:stretch>
            <a:fillRect/>
          </a:stretch>
        </p:blipFill>
        <p:spPr>
          <a:xfrm>
            <a:off x="9499600" y="3136900"/>
            <a:ext cx="6616700" cy="5715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alphaModFix amt="44000"/>
          </a:blip>
          <a:stretch>
            <a:fillRect/>
          </a:stretch>
        </p:blipFill>
        <p:spPr>
          <a:xfrm>
            <a:off x="2171700" y="3175000"/>
            <a:ext cx="6997700" cy="5715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6700" y="1701800"/>
            <a:ext cx="12687300" cy="1041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65300" y="1930400"/>
            <a:ext cx="558800" cy="558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3690600" y="2222500"/>
            <a:ext cx="673100" cy="25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156200" y="1803400"/>
            <a:ext cx="7988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4500" b="0" i="0" u="none" strike="noStrike" spc="200">
                <a:solidFill>
                  <a:srgbClr val="3567D3"/>
                </a:solidFill>
                <a:ea typeface="Gmarket Sans Medium"/>
              </a:rPr>
              <a:t>주요</a:t>
            </a:r>
            <a:r>
              <a:rPr lang="en-US" sz="4500" b="0" i="0" u="none" strike="noStrike" spc="2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4500" b="0" i="0" u="none" strike="noStrike" spc="200">
                <a:solidFill>
                  <a:srgbClr val="3567D3"/>
                </a:solidFill>
                <a:ea typeface="Gmarket Sans Medium"/>
              </a:rPr>
              <a:t>기능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46400" y="1828800"/>
            <a:ext cx="1892300" cy="7747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3835400" y="1968500"/>
            <a:ext cx="7493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>
                <a:solidFill>
                  <a:srgbClr val="FFFFFF"/>
                </a:solidFill>
                <a:latin typeface="Gmarket Sans Medium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136900" y="2108200"/>
            <a:ext cx="8890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Gmarket Sans Medium"/>
              </a:rPr>
              <a:t>chapter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946400" y="3149600"/>
            <a:ext cx="4749800" cy="563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endParaRPr/>
          </a:p>
          <a:p>
            <a:pPr lvl="0" algn="l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BLE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자동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점호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시스템</a:t>
            </a:r>
          </a:p>
          <a:p>
            <a:pPr lvl="0" algn="l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 -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기숙사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내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BLE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비콘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범위에서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자동으로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출석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처리</a:t>
            </a:r>
          </a:p>
          <a:p>
            <a:pPr lvl="0" algn="l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 </a:t>
            </a:r>
          </a:p>
          <a:p>
            <a:pPr lvl="0" algn="l">
              <a:lnSpc>
                <a:spcPct val="99600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외출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신청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승인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확인</a:t>
            </a:r>
          </a:p>
          <a:p>
            <a:pPr lvl="0" algn="l">
              <a:lnSpc>
                <a:spcPct val="99600"/>
              </a:lnSpc>
            </a:pPr>
            <a:endParaRPr lang="ko-KR" sz="17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 -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외출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앱에서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신청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버튼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클릭</a:t>
            </a:r>
          </a:p>
          <a:p>
            <a:pPr lvl="0" algn="l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 -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승인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여부는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푸시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알림으로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안내</a:t>
            </a:r>
          </a:p>
          <a:p>
            <a:pPr lvl="0" algn="l">
              <a:lnSpc>
                <a:spcPct val="99600"/>
              </a:lnSpc>
            </a:pPr>
            <a:endParaRPr lang="ko-KR" sz="17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99600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푸시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알림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기능</a:t>
            </a:r>
          </a:p>
          <a:p>
            <a:pPr lvl="0" algn="l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 -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점호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누락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자동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알림</a:t>
            </a:r>
          </a:p>
          <a:p>
            <a:pPr lvl="0" algn="l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 -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외출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승인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결과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공지사항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등록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실시간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알림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수신</a:t>
            </a:r>
          </a:p>
          <a:p>
            <a:pPr lvl="0" algn="l">
              <a:lnSpc>
                <a:spcPct val="99600"/>
              </a:lnSpc>
            </a:pPr>
            <a:endParaRPr lang="ko-KR" sz="17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99600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공지사항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게시판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열람</a:t>
            </a:r>
          </a:p>
          <a:p>
            <a:pPr lvl="0" algn="l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 -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앱에서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최신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공지사항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목록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확인</a:t>
            </a:r>
          </a:p>
          <a:p>
            <a:pPr lvl="0" algn="l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 -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중요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글에는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"NEW"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뱃지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표시</a:t>
            </a:r>
          </a:p>
          <a:p>
            <a:pPr lvl="0" algn="l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 -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읽은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안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읽은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글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구분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가능</a:t>
            </a:r>
          </a:p>
          <a:p>
            <a:pPr lvl="0" algn="l">
              <a:lnSpc>
                <a:spcPct val="99600"/>
              </a:lnSpc>
            </a:pPr>
            <a:endParaRPr lang="ko-KR" sz="17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*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포인트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확인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기능</a:t>
            </a:r>
          </a:p>
          <a:p>
            <a:pPr lvl="0" algn="l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 -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점호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외출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규칙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준수로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포인트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자동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적립</a:t>
            </a:r>
          </a:p>
          <a:p>
            <a:pPr lvl="0" algn="l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 -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누적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포인트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확인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매점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사용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가능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포인트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표시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946400" y="2971800"/>
            <a:ext cx="2209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2000" b="0" i="0" u="none" strike="noStrike">
                <a:solidFill>
                  <a:srgbClr val="3567D3"/>
                </a:solidFill>
                <a:ea typeface="Pretendard Bold"/>
              </a:rPr>
              <a:t>학생용</a:t>
            </a:r>
            <a:r>
              <a:rPr lang="en-US" sz="2000" b="0" i="0" u="none" strike="noStrike">
                <a:solidFill>
                  <a:srgbClr val="3567D3"/>
                </a:solidFill>
                <a:latin typeface="Pretendard Bold"/>
              </a:rPr>
              <a:t> </a:t>
            </a:r>
            <a:r>
              <a:rPr lang="ko-KR" sz="2000" b="0" i="0" u="none" strike="noStrike">
                <a:solidFill>
                  <a:srgbClr val="3567D3"/>
                </a:solidFill>
                <a:ea typeface="Pretendard Bold"/>
              </a:rPr>
              <a:t>모바일</a:t>
            </a:r>
            <a:r>
              <a:rPr lang="en-US" sz="2000" b="0" i="0" u="none" strike="noStrike">
                <a:solidFill>
                  <a:srgbClr val="3567D3"/>
                </a:solidFill>
                <a:latin typeface="Pretendard Bold"/>
              </a:rPr>
              <a:t> </a:t>
            </a:r>
            <a:r>
              <a:rPr lang="ko-KR" sz="2000" b="0" i="0" u="none" strike="noStrike">
                <a:solidFill>
                  <a:srgbClr val="3567D3"/>
                </a:solidFill>
                <a:ea typeface="Pretendard Bold"/>
              </a:rPr>
              <a:t>앱</a:t>
            </a:r>
            <a:r>
              <a:rPr lang="en-US" sz="2000" b="0" i="0" u="none" strike="noStrike">
                <a:solidFill>
                  <a:srgbClr val="3567D3"/>
                </a:solidFill>
                <a:latin typeface="Pretendard Bold"/>
              </a:rPr>
              <a:t> </a:t>
            </a:r>
            <a:r>
              <a:rPr lang="ko-KR" sz="2000" b="0" i="0" u="none" strike="noStrike">
                <a:solidFill>
                  <a:srgbClr val="3567D3"/>
                </a:solidFill>
                <a:ea typeface="Pretendard Bold"/>
              </a:rPr>
              <a:t>기능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312400" y="3517900"/>
            <a:ext cx="5054600" cy="4660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출석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외출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실시간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모니터링</a:t>
            </a:r>
          </a:p>
          <a:p>
            <a:pPr lvl="0" algn="l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 -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실시간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입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퇴실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현황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외출자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목록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확인</a:t>
            </a:r>
          </a:p>
          <a:p>
            <a:pPr lvl="0" algn="l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 -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출석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누락자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자동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분류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확인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기능</a:t>
            </a:r>
          </a:p>
          <a:p>
            <a:pPr lvl="0" algn="l">
              <a:lnSpc>
                <a:spcPct val="116199"/>
              </a:lnSpc>
            </a:pPr>
            <a:endParaRPr lang="ko-KR" sz="17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공지사항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게시판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관리</a:t>
            </a:r>
          </a:p>
          <a:p>
            <a:pPr lvl="0" algn="l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 -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공지사항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작성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수정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삭제</a:t>
            </a:r>
          </a:p>
          <a:p>
            <a:pPr lvl="0" algn="l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 -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첨부파일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업로드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카테고리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구분</a:t>
            </a:r>
          </a:p>
          <a:p>
            <a:pPr lvl="0" algn="l">
              <a:lnSpc>
                <a:spcPct val="116199"/>
              </a:lnSpc>
            </a:pPr>
            <a:endParaRPr lang="ko-KR" sz="17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BLE/QR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연동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관리</a:t>
            </a:r>
          </a:p>
          <a:p>
            <a:pPr lvl="0" algn="l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 - BLE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인증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로그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기록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확인</a:t>
            </a:r>
          </a:p>
          <a:p>
            <a:pPr lvl="0" algn="l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 - BLE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연결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오류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QR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인증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대체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수단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설정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가능</a:t>
            </a:r>
          </a:p>
          <a:p>
            <a:pPr lvl="0" algn="l">
              <a:lnSpc>
                <a:spcPct val="116199"/>
              </a:lnSpc>
            </a:pPr>
            <a:endParaRPr lang="ko-KR" sz="17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통계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리포트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출력</a:t>
            </a:r>
          </a:p>
          <a:p>
            <a:pPr lvl="0" algn="l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 -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출석률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외출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빈도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포인트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누적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순위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통계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제공</a:t>
            </a:r>
          </a:p>
          <a:p>
            <a:pPr lvl="0" algn="l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 -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보고서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출력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기능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포함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(PDF/Excel)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58400" y="2971800"/>
            <a:ext cx="28194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2000" b="0" i="0" u="none" strike="noStrike">
                <a:solidFill>
                  <a:srgbClr val="3567D3"/>
                </a:solidFill>
                <a:ea typeface="Pretendard Bold"/>
              </a:rPr>
              <a:t>관리자용</a:t>
            </a:r>
            <a:r>
              <a:rPr lang="en-US" sz="2000" b="0" i="0" u="none" strike="noStrike">
                <a:solidFill>
                  <a:srgbClr val="3567D3"/>
                </a:solidFill>
                <a:latin typeface="Pretendard Bold"/>
              </a:rPr>
              <a:t> </a:t>
            </a:r>
            <a:r>
              <a:rPr lang="ko-KR" sz="2000" b="0" i="0" u="none" strike="noStrike">
                <a:solidFill>
                  <a:srgbClr val="3567D3"/>
                </a:solidFill>
                <a:ea typeface="Pretendard Bold"/>
              </a:rPr>
              <a:t>웹</a:t>
            </a:r>
            <a:r>
              <a:rPr lang="en-US" sz="2000" b="0" i="0" u="none" strike="noStrike">
                <a:solidFill>
                  <a:srgbClr val="3567D3"/>
                </a:solidFill>
                <a:latin typeface="Pretendard Bold"/>
              </a:rPr>
              <a:t> </a:t>
            </a:r>
            <a:r>
              <a:rPr lang="ko-KR" sz="2000" b="0" i="0" u="none" strike="noStrike">
                <a:solidFill>
                  <a:srgbClr val="3567D3"/>
                </a:solidFill>
                <a:ea typeface="Pretendard Bold"/>
              </a:rPr>
              <a:t>대시보드</a:t>
            </a:r>
            <a:r>
              <a:rPr lang="en-US" sz="2000" b="0" i="0" u="none" strike="noStrike">
                <a:solidFill>
                  <a:srgbClr val="3567D3"/>
                </a:solidFill>
                <a:latin typeface="Pretendard Bold"/>
              </a:rPr>
              <a:t> </a:t>
            </a:r>
            <a:r>
              <a:rPr lang="ko-KR" sz="2000" b="0" i="0" u="none" strike="noStrike">
                <a:solidFill>
                  <a:srgbClr val="3567D3"/>
                </a:solidFill>
                <a:ea typeface="Pretendard Bold"/>
              </a:rPr>
              <a:t>기능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600" y="609600"/>
            <a:ext cx="2197100" cy="2146300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00" y="596900"/>
            <a:ext cx="2197100" cy="2146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600" y="584200"/>
            <a:ext cx="2197100" cy="2146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100" y="584200"/>
            <a:ext cx="2197100" cy="2146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571500"/>
            <a:ext cx="2197100" cy="2146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300" y="496128"/>
            <a:ext cx="2895600" cy="2146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946400" y="685248"/>
            <a:ext cx="24511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500" b="0" i="0" u="none" strike="noStrike" spc="100" dirty="0">
                <a:solidFill>
                  <a:srgbClr val="598EFF"/>
                </a:solidFill>
                <a:latin typeface="Gmarket Sans Medium"/>
              </a:rPr>
              <a:t>02. </a:t>
            </a:r>
            <a:r>
              <a:rPr lang="ko-KR" altLang="en-US" sz="1500" b="0" i="0" u="none" strike="noStrike" spc="100" dirty="0">
                <a:solidFill>
                  <a:srgbClr val="598EFF"/>
                </a:solidFill>
                <a:ea typeface="Gmarket Sans Medium"/>
              </a:rPr>
              <a:t>주요 기능</a:t>
            </a:r>
            <a:endParaRPr lang="ko-KR" sz="1500" b="0" i="0" u="none" strike="noStrike" spc="100" dirty="0">
              <a:solidFill>
                <a:srgbClr val="598EFF"/>
              </a:solidFill>
              <a:ea typeface="Gmarket Sans Medium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1016000"/>
            <a:ext cx="16687800" cy="8763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6700" y="1701800"/>
            <a:ext cx="12687300" cy="1041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65300" y="1930400"/>
            <a:ext cx="558800" cy="558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3690600" y="2222500"/>
            <a:ext cx="673100" cy="25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156200" y="1803400"/>
            <a:ext cx="7988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유사</a:t>
            </a:r>
            <a:r>
              <a:rPr lang="en-US" sz="4500" b="0" i="0" u="none" strike="noStrike" spc="1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앱</a:t>
            </a:r>
            <a:r>
              <a:rPr lang="en-US" sz="4500" b="0" i="0" u="none" strike="noStrike" spc="1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사례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6400" y="1828800"/>
            <a:ext cx="1892300" cy="7747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3835400" y="1968500"/>
            <a:ext cx="7493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dirty="0">
                <a:solidFill>
                  <a:srgbClr val="FFFFFF"/>
                </a:solidFill>
                <a:latin typeface="Gmarket Sans Medium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36900" y="2108200"/>
            <a:ext cx="8890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Gmarket Sans Medium"/>
              </a:rPr>
              <a:t>chapter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alphaModFix amt="44000"/>
          </a:blip>
          <a:stretch>
            <a:fillRect/>
          </a:stretch>
        </p:blipFill>
        <p:spPr>
          <a:xfrm>
            <a:off x="1524000" y="2794000"/>
            <a:ext cx="6489700" cy="65151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676400" y="6261100"/>
            <a:ext cx="41021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2009"/>
              </a:lnSpc>
            </a:pPr>
            <a:r>
              <a:rPr lang="ko-KR" sz="2400" b="0" i="0" u="none" strike="noStrike" spc="200" dirty="0" err="1">
                <a:solidFill>
                  <a:srgbClr val="3567D3"/>
                </a:solidFill>
                <a:ea typeface="Gmarket Sans Medium"/>
              </a:rPr>
              <a:t>헤이영</a:t>
            </a:r>
            <a:r>
              <a:rPr lang="en-US" sz="2400" b="0" i="0" u="none" strike="noStrike" spc="200" dirty="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2400" b="0" i="0" u="none" strike="noStrike" spc="200" dirty="0">
                <a:solidFill>
                  <a:srgbClr val="3567D3"/>
                </a:solidFill>
                <a:ea typeface="Gmarket Sans Medium"/>
              </a:rPr>
              <a:t>캠퍼스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676900" y="2895600"/>
            <a:ext cx="5918200" cy="6413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31970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0" i="0" u="none" strike="noStrike" spc="-100" dirty="0" err="1">
                <a:solidFill>
                  <a:srgbClr val="000000"/>
                </a:solidFill>
                <a:ea typeface="Gmarket Sans Light"/>
              </a:rPr>
              <a:t>헤이영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캠퍼스는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대학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생활에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필요한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다양한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기능을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통합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제공하는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애플리케이션입니다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.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모바일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학생증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, </a:t>
            </a:r>
            <a:r>
              <a:rPr lang="ko-KR" sz="2000" b="0" i="0" u="none" strike="noStrike" spc="-100" dirty="0" err="1">
                <a:solidFill>
                  <a:srgbClr val="000000"/>
                </a:solidFill>
                <a:ea typeface="Gmarket Sans Light"/>
              </a:rPr>
              <a:t>전자출결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,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교내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건물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출입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,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학사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일정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조회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,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도서관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좌석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배정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등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여러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기능을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지원합니다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.</a:t>
            </a:r>
          </a:p>
          <a:p>
            <a:pPr lvl="0" algn="l">
              <a:lnSpc>
                <a:spcPct val="131970"/>
              </a:lnSpc>
            </a:pPr>
            <a:endParaRPr lang="en-US" sz="2000" b="0" i="0" u="none" strike="noStrike" spc="-100" dirty="0">
              <a:solidFill>
                <a:srgbClr val="000000"/>
              </a:solidFill>
              <a:latin typeface="Gmarket Sans Light"/>
            </a:endParaRPr>
          </a:p>
          <a:p>
            <a:pPr lvl="0" algn="l">
              <a:lnSpc>
                <a:spcPct val="131970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Gmarket Sans Light"/>
              </a:rPr>
              <a:t>    </a:t>
            </a:r>
            <a:r>
              <a:rPr lang="ko-KR" sz="2000" b="0" i="0" u="none" strike="noStrike" dirty="0">
                <a:solidFill>
                  <a:srgbClr val="000000"/>
                </a:solidFill>
                <a:ea typeface="Gmarket Sans Light"/>
              </a:rPr>
              <a:t>유사점</a:t>
            </a:r>
          </a:p>
          <a:p>
            <a:pPr marL="342900" lvl="0" indent="-342900" algn="l">
              <a:lnSpc>
                <a:spcPct val="131970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0" i="0" u="none" strike="noStrike" spc="-100" dirty="0" err="1">
                <a:solidFill>
                  <a:srgbClr val="000000"/>
                </a:solidFill>
                <a:ea typeface="Gmarket Sans Light"/>
              </a:rPr>
              <a:t>전자출결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기능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: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스마트폰을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활용한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출석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체크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기능을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제공합니다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.</a:t>
            </a:r>
          </a:p>
          <a:p>
            <a:pPr marL="342900" lvl="0" indent="-342900" algn="l">
              <a:lnSpc>
                <a:spcPct val="131970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교내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건물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출입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관리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: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학생들의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교내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출입을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모바일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학생증으로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관리합니다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.</a:t>
            </a:r>
          </a:p>
          <a:p>
            <a:pPr lvl="0" algn="l">
              <a:lnSpc>
                <a:spcPct val="131970"/>
              </a:lnSpc>
            </a:pPr>
            <a:endParaRPr lang="en-US" sz="2000" b="0" i="0" u="none" strike="noStrike" spc="-100" dirty="0">
              <a:solidFill>
                <a:srgbClr val="000000"/>
              </a:solidFill>
              <a:latin typeface="Gmarket Sans Light"/>
            </a:endParaRPr>
          </a:p>
          <a:p>
            <a:pPr lvl="0" algn="l">
              <a:lnSpc>
                <a:spcPct val="131970"/>
              </a:lnSpc>
            </a:pP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     </a:t>
            </a:r>
            <a:r>
              <a:rPr lang="ko-KR" altLang="en-US" sz="2000" spc="-100" dirty="0" err="1">
                <a:solidFill>
                  <a:srgbClr val="000000"/>
                </a:solidFill>
                <a:latin typeface="Gmarket Sans Light"/>
                <a:ea typeface="Gmarket Sans Light"/>
              </a:rPr>
              <a:t>차별점</a:t>
            </a:r>
            <a:endParaRPr lang="ko-KR" sz="2000" b="0" i="0" u="none" strike="noStrike" spc="-100" dirty="0">
              <a:solidFill>
                <a:srgbClr val="000000"/>
              </a:solidFill>
              <a:ea typeface="Gmarket Sans Light"/>
            </a:endParaRPr>
          </a:p>
          <a:p>
            <a:pPr marL="342900" lvl="0" indent="-342900" algn="l">
              <a:lnSpc>
                <a:spcPct val="131970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BLE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기반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출석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체크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부재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: BLE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를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 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활용한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자동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출석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체크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기능은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포함되어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있지</a:t>
            </a:r>
            <a:r>
              <a:rPr lang="en-US" sz="2000" b="0" i="0" u="none" strike="noStrike" spc="-100" dirty="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2000" b="0" i="0" u="none" strike="noStrike" spc="-100" dirty="0">
                <a:solidFill>
                  <a:srgbClr val="000000"/>
                </a:solidFill>
                <a:ea typeface="Gmarket Sans Light"/>
              </a:rPr>
              <a:t>않습니다</a:t>
            </a:r>
            <a:endParaRPr lang="en-US" altLang="ko-KR" sz="2000" b="0" i="0" u="none" strike="noStrike" spc="-100" dirty="0">
              <a:solidFill>
                <a:srgbClr val="000000"/>
              </a:solidFill>
              <a:ea typeface="Gmarket Sans Light"/>
            </a:endParaRPr>
          </a:p>
          <a:p>
            <a:pPr marL="342900" indent="-342900">
              <a:lnSpc>
                <a:spcPct val="13197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000" dirty="0">
                <a:latin typeface="Gmarket Sans Light" panose="020B0600000101010101" charset="-127"/>
                <a:ea typeface="Gmarket Sans Light" panose="020B0600000101010101" charset="-127"/>
              </a:rPr>
              <a:t>관리자 전용 대시보드 제공함으로 실시간 모니터링</a:t>
            </a:r>
            <a:r>
              <a:rPr lang="en-US" altLang="ko-KR" sz="2000" dirty="0">
                <a:latin typeface="Gmarket Sans Light" panose="020B0600000101010101" charset="-127"/>
                <a:ea typeface="Gmarket Sans Light" panose="020B0600000101010101" charset="-127"/>
              </a:rPr>
              <a:t>, </a:t>
            </a:r>
            <a:r>
              <a:rPr lang="ko-KR" altLang="en-US" sz="2000" dirty="0">
                <a:latin typeface="Gmarket Sans Light" panose="020B0600000101010101" charset="-127"/>
                <a:ea typeface="Gmarket Sans Light" panose="020B0600000101010101" charset="-127"/>
              </a:rPr>
              <a:t>수동 승인</a:t>
            </a:r>
            <a:r>
              <a:rPr lang="en-US" altLang="ko-KR" sz="2000" dirty="0">
                <a:latin typeface="Gmarket Sans Light" panose="020B0600000101010101" charset="-127"/>
                <a:ea typeface="Gmarket Sans Light" panose="020B0600000101010101" charset="-127"/>
              </a:rPr>
              <a:t>, </a:t>
            </a:r>
            <a:r>
              <a:rPr lang="ko-KR" altLang="en-US" sz="2000" dirty="0">
                <a:latin typeface="Gmarket Sans Light" panose="020B0600000101010101" charset="-127"/>
                <a:ea typeface="Gmarket Sans Light" panose="020B0600000101010101" charset="-127"/>
              </a:rPr>
              <a:t>통계 자료 확인 등 관리자 기능 강화</a:t>
            </a:r>
          </a:p>
          <a:p>
            <a:pPr marL="342900" lvl="0" indent="-342900" algn="l">
              <a:lnSpc>
                <a:spcPct val="131970"/>
              </a:lnSpc>
              <a:buClr>
                <a:srgbClr val="000000"/>
              </a:buClr>
              <a:buFont typeface="Arial"/>
              <a:buChar char="●"/>
            </a:pPr>
            <a:endParaRPr lang="en-US" altLang="ko-KR" sz="2000" b="0" i="0" u="none" strike="noStrike" spc="-100" dirty="0">
              <a:solidFill>
                <a:srgbClr val="000000"/>
              </a:solidFill>
              <a:ea typeface="Gmarket Sans Light"/>
            </a:endParaRPr>
          </a:p>
          <a:p>
            <a:pPr marL="342900" lvl="0" indent="-342900" algn="l">
              <a:lnSpc>
                <a:spcPct val="131970"/>
              </a:lnSpc>
              <a:buClr>
                <a:srgbClr val="000000"/>
              </a:buClr>
              <a:buFont typeface="Arial"/>
              <a:buChar char="●"/>
            </a:pPr>
            <a:endParaRPr lang="ko-KR" sz="2000" b="0" i="0" u="none" strike="noStrike" spc="-100" dirty="0">
              <a:solidFill>
                <a:srgbClr val="000000"/>
              </a:solidFill>
              <a:ea typeface="Gmarket Sans Light"/>
            </a:endParaRPr>
          </a:p>
          <a:p>
            <a:pPr lvl="0" algn="l">
              <a:lnSpc>
                <a:spcPct val="131970"/>
              </a:lnSpc>
            </a:pPr>
            <a:endParaRPr lang="ko-KR" sz="2000" b="0" i="0" u="none" strike="noStrike" spc="-100" dirty="0">
              <a:solidFill>
                <a:srgbClr val="000000"/>
              </a:solidFill>
              <a:ea typeface="Gmarket Sans Light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87600" y="2971800"/>
            <a:ext cx="2679700" cy="3073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596900"/>
            <a:ext cx="2197100" cy="2146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200" y="584200"/>
            <a:ext cx="2197100" cy="2146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584200"/>
            <a:ext cx="2197100" cy="2146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100" y="571500"/>
            <a:ext cx="2197100" cy="2146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571500"/>
            <a:ext cx="2197100" cy="2146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800" y="482600"/>
            <a:ext cx="2895600" cy="2146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5067300" y="584200"/>
            <a:ext cx="22606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400" b="0" i="0" u="none" strike="noStrike" spc="100">
                <a:solidFill>
                  <a:srgbClr val="598EFF"/>
                </a:solidFill>
                <a:latin typeface="Gmarket Sans Medium"/>
              </a:rPr>
              <a:t>03. </a:t>
            </a:r>
            <a:r>
              <a:rPr lang="ko-KR" sz="1400" b="0" i="0" u="none" strike="noStrike" spc="100">
                <a:solidFill>
                  <a:srgbClr val="598EFF"/>
                </a:solidFill>
                <a:ea typeface="Gmarket Sans Medium"/>
              </a:rPr>
              <a:t>시스템</a:t>
            </a:r>
            <a:r>
              <a:rPr lang="en-US" sz="1400" b="0" i="0" u="none" strike="noStrike" spc="10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1400" b="0" i="0" u="none" strike="noStrike" spc="100">
                <a:solidFill>
                  <a:srgbClr val="598EFF"/>
                </a:solidFill>
                <a:ea typeface="Gmarket Sans Medium"/>
              </a:rPr>
              <a:t>구성</a:t>
            </a:r>
            <a:r>
              <a:rPr lang="en-US" sz="1400" b="0" i="0" u="none" strike="noStrike" spc="10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1400" b="0" i="0" u="none" strike="noStrike" spc="100">
                <a:solidFill>
                  <a:srgbClr val="598EFF"/>
                </a:solidFill>
                <a:ea typeface="Gmarket Sans Medium"/>
              </a:rPr>
              <a:t>및</a:t>
            </a:r>
            <a:r>
              <a:rPr lang="en-US" sz="1400" b="0" i="0" u="none" strike="noStrike" spc="10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1400" b="0" i="0" u="none" strike="noStrike" spc="100">
                <a:solidFill>
                  <a:srgbClr val="598EFF"/>
                </a:solidFill>
                <a:ea typeface="Gmarket Sans Medium"/>
              </a:rPr>
              <a:t>기술</a:t>
            </a:r>
            <a:r>
              <a:rPr lang="en-US" sz="1400" b="0" i="0" u="none" strike="noStrike" spc="10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1400" b="0" i="0" u="none" strike="noStrike" spc="100">
                <a:solidFill>
                  <a:srgbClr val="598EFF"/>
                </a:solidFill>
                <a:ea typeface="Gmarket Sans Medium"/>
              </a:rPr>
              <a:t>스택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1016000"/>
            <a:ext cx="16687800" cy="8763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6700" y="1701800"/>
            <a:ext cx="12687300" cy="1041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65300" y="1930400"/>
            <a:ext cx="558800" cy="558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3690600" y="2222500"/>
            <a:ext cx="673100" cy="25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156200" y="1803400"/>
            <a:ext cx="7988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4500" b="0" i="0" u="none" strike="noStrike" spc="200">
                <a:solidFill>
                  <a:srgbClr val="3567D3"/>
                </a:solidFill>
                <a:ea typeface="Gmarket Sans Medium"/>
              </a:rPr>
              <a:t>시스템</a:t>
            </a:r>
            <a:r>
              <a:rPr lang="en-US" sz="4500" b="0" i="0" u="none" strike="noStrike" spc="2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4500" b="0" i="0" u="none" strike="noStrike" spc="200">
                <a:solidFill>
                  <a:srgbClr val="3567D3"/>
                </a:solidFill>
                <a:ea typeface="Gmarket Sans Medium"/>
              </a:rPr>
              <a:t>구성</a:t>
            </a:r>
            <a:r>
              <a:rPr lang="en-US" sz="4500" b="0" i="0" u="none" strike="noStrike" spc="2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4500" b="0" i="0" u="none" strike="noStrike" spc="200">
                <a:solidFill>
                  <a:srgbClr val="3567D3"/>
                </a:solidFill>
                <a:ea typeface="Gmarket Sans Medium"/>
              </a:rPr>
              <a:t>및</a:t>
            </a:r>
            <a:r>
              <a:rPr lang="en-US" sz="4500" b="0" i="0" u="none" strike="noStrike" spc="2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4500" b="0" i="0" u="none" strike="noStrike" spc="200">
                <a:solidFill>
                  <a:srgbClr val="3567D3"/>
                </a:solidFill>
                <a:ea typeface="Gmarket Sans Medium"/>
              </a:rPr>
              <a:t>기술</a:t>
            </a:r>
            <a:r>
              <a:rPr lang="en-US" sz="4500" b="0" i="0" u="none" strike="noStrike" spc="2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4500" b="0" i="0" u="none" strike="noStrike" spc="200">
                <a:solidFill>
                  <a:srgbClr val="3567D3"/>
                </a:solidFill>
                <a:ea typeface="Gmarket Sans Medium"/>
              </a:rPr>
              <a:t>스택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6400" y="1828800"/>
            <a:ext cx="1892300" cy="774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2300" y="2882900"/>
            <a:ext cx="9994900" cy="63246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3835400" y="1968500"/>
            <a:ext cx="7493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>
                <a:solidFill>
                  <a:srgbClr val="FFFFFF"/>
                </a:solidFill>
                <a:latin typeface="Gmarket Sans Medium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36900" y="2108200"/>
            <a:ext cx="8890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Gmarket Sans Medium"/>
              </a:rPr>
              <a:t>chapter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24100" y="2908300"/>
            <a:ext cx="13716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3000" b="0" i="0" u="none" strike="noStrike">
                <a:solidFill>
                  <a:srgbClr val="3567D3"/>
                </a:solidFill>
                <a:ea typeface="Pretendard Regular"/>
              </a:rPr>
              <a:t>아키텍처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596900"/>
            <a:ext cx="2197100" cy="2146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200" y="584200"/>
            <a:ext cx="2197100" cy="2146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584200"/>
            <a:ext cx="2197100" cy="2146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100" y="571500"/>
            <a:ext cx="2197100" cy="2146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571500"/>
            <a:ext cx="2197100" cy="2146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800" y="482600"/>
            <a:ext cx="2895600" cy="2146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5067300" y="584200"/>
            <a:ext cx="22606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400" b="0" i="0" u="none" strike="noStrike" spc="100">
                <a:solidFill>
                  <a:srgbClr val="598EFF"/>
                </a:solidFill>
                <a:latin typeface="Gmarket Sans Medium"/>
              </a:rPr>
              <a:t>03. </a:t>
            </a:r>
            <a:r>
              <a:rPr lang="ko-KR" sz="1400" b="0" i="0" u="none" strike="noStrike" spc="100">
                <a:solidFill>
                  <a:srgbClr val="598EFF"/>
                </a:solidFill>
                <a:ea typeface="Gmarket Sans Medium"/>
              </a:rPr>
              <a:t>시스템</a:t>
            </a:r>
            <a:r>
              <a:rPr lang="en-US" sz="1400" b="0" i="0" u="none" strike="noStrike" spc="10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1400" b="0" i="0" u="none" strike="noStrike" spc="100">
                <a:solidFill>
                  <a:srgbClr val="598EFF"/>
                </a:solidFill>
                <a:ea typeface="Gmarket Sans Medium"/>
              </a:rPr>
              <a:t>구성</a:t>
            </a:r>
            <a:r>
              <a:rPr lang="en-US" sz="1400" b="0" i="0" u="none" strike="noStrike" spc="10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1400" b="0" i="0" u="none" strike="noStrike" spc="100">
                <a:solidFill>
                  <a:srgbClr val="598EFF"/>
                </a:solidFill>
                <a:ea typeface="Gmarket Sans Medium"/>
              </a:rPr>
              <a:t>및</a:t>
            </a:r>
            <a:r>
              <a:rPr lang="en-US" sz="1400" b="0" i="0" u="none" strike="noStrike" spc="10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1400" b="0" i="0" u="none" strike="noStrike" spc="100">
                <a:solidFill>
                  <a:srgbClr val="598EFF"/>
                </a:solidFill>
                <a:ea typeface="Gmarket Sans Medium"/>
              </a:rPr>
              <a:t>기술</a:t>
            </a:r>
            <a:r>
              <a:rPr lang="en-US" sz="1400" b="0" i="0" u="none" strike="noStrike" spc="10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1400" b="0" i="0" u="none" strike="noStrike" spc="100">
                <a:solidFill>
                  <a:srgbClr val="598EFF"/>
                </a:solidFill>
                <a:ea typeface="Gmarket Sans Medium"/>
              </a:rPr>
              <a:t>스택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1016000"/>
            <a:ext cx="16687800" cy="8763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6700" y="1701800"/>
            <a:ext cx="12687300" cy="1041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65300" y="1930400"/>
            <a:ext cx="558800" cy="558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3690600" y="2222500"/>
            <a:ext cx="673100" cy="25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156200" y="1803400"/>
            <a:ext cx="7988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시스템</a:t>
            </a:r>
            <a:r>
              <a:rPr lang="en-US" sz="4500" b="0" i="0" u="none" strike="noStrike" spc="1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구성</a:t>
            </a:r>
            <a:r>
              <a:rPr lang="en-US" sz="4500" b="0" i="0" u="none" strike="noStrike" spc="1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및</a:t>
            </a:r>
            <a:r>
              <a:rPr lang="en-US" sz="4500" b="0" i="0" u="none" strike="noStrike" spc="1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기술</a:t>
            </a:r>
            <a:r>
              <a:rPr lang="en-US" sz="4500" b="0" i="0" u="none" strike="noStrike" spc="1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스택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6400" y="1828800"/>
            <a:ext cx="1892300" cy="7747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3835400" y="1968500"/>
            <a:ext cx="7493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>
                <a:solidFill>
                  <a:srgbClr val="FFFFFF"/>
                </a:solidFill>
                <a:latin typeface="Gmarket Sans Medium"/>
              </a:rPr>
              <a:t>03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0" y="3492500"/>
            <a:ext cx="4076700" cy="9017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3136900" y="2108200"/>
            <a:ext cx="8890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Gmarket Sans Medium"/>
              </a:rPr>
              <a:t>chapter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99300" y="3492500"/>
            <a:ext cx="4076700" cy="9017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alphaModFix amt="50000"/>
          </a:blip>
          <a:stretch>
            <a:fillRect/>
          </a:stretch>
        </p:blipFill>
        <p:spPr>
          <a:xfrm>
            <a:off x="1765300" y="3340100"/>
            <a:ext cx="3606800" cy="53721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78000" y="5994400"/>
            <a:ext cx="35941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06600" y="3556000"/>
            <a:ext cx="3124200" cy="11938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2171700" y="4076700"/>
            <a:ext cx="28067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2009"/>
              </a:lnSpc>
            </a:pPr>
            <a:r>
              <a:rPr lang="ko-KR" sz="2600" b="0" i="0" u="none" strike="noStrike" spc="200">
                <a:solidFill>
                  <a:srgbClr val="3567D3"/>
                </a:solidFill>
                <a:ea typeface="Gmarket Sans Medium"/>
              </a:rPr>
              <a:t>프론트엔드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43100" y="5092700"/>
            <a:ext cx="32639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ko-KR" sz="1600" b="1" i="0" u="none" strike="noStrike" spc="-100">
                <a:solidFill>
                  <a:srgbClr val="000000"/>
                </a:solidFill>
                <a:ea typeface="Gmarket Sans Light"/>
              </a:rPr>
              <a:t>프레임워크</a:t>
            </a:r>
            <a:r>
              <a:rPr lang="en-US" sz="1600" b="1" i="0" u="none" strike="noStrike" spc="-100">
                <a:solidFill>
                  <a:srgbClr val="000000"/>
                </a:solidFill>
                <a:latin typeface="Gmarket Sans Light"/>
              </a:rPr>
              <a:t> :  Flutter </a:t>
            </a:r>
            <a:r>
              <a:rPr lang="ko-KR" sz="1600" b="1" i="0" u="none" strike="noStrike" spc="-100">
                <a:solidFill>
                  <a:srgbClr val="000000"/>
                </a:solidFill>
                <a:ea typeface="Gmarket Sans Light"/>
              </a:rPr>
              <a:t>또는</a:t>
            </a:r>
            <a:r>
              <a:rPr lang="en-US" sz="1600" b="1" i="0" u="none" strike="noStrike" spc="-100">
                <a:solidFill>
                  <a:srgbClr val="000000"/>
                </a:solidFill>
                <a:latin typeface="Gmarket Sans Light"/>
              </a:rPr>
              <a:t> React Native/ React,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124200" y="3759200"/>
            <a:ext cx="901700" cy="22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300" b="0" i="0" u="none" strike="noStrike">
                <a:solidFill>
                  <a:srgbClr val="598EFF"/>
                </a:solidFill>
                <a:latin typeface="Gmarket Sans Medium"/>
              </a:rPr>
              <a:t>01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78000" y="7302500"/>
            <a:ext cx="3594100" cy="254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1943100" y="6388100"/>
            <a:ext cx="32639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en-US" sz="1600" b="1" i="0" u="none" strike="noStrike" spc="-100">
                <a:solidFill>
                  <a:srgbClr val="000000"/>
                </a:solidFill>
                <a:latin typeface="Gmarket Sans Light"/>
              </a:rPr>
              <a:t>BLE </a:t>
            </a:r>
            <a:r>
              <a:rPr lang="ko-KR" sz="1600" b="1" i="0" u="none" strike="noStrike" spc="-100">
                <a:solidFill>
                  <a:srgbClr val="000000"/>
                </a:solidFill>
                <a:ea typeface="Gmarket Sans Light"/>
              </a:rPr>
              <a:t>통신</a:t>
            </a:r>
            <a:r>
              <a:rPr lang="en-US" sz="1600" b="1" i="0" u="none" strike="noStrike" spc="-100">
                <a:solidFill>
                  <a:srgbClr val="000000"/>
                </a:solidFill>
                <a:latin typeface="Gmarket Sans Light"/>
              </a:rPr>
              <a:t> : react-native-ble-plx (ios/Android </a:t>
            </a:r>
            <a:r>
              <a:rPr lang="ko-KR" sz="1600" b="1" i="0" u="none" strike="noStrike" spc="-100">
                <a:solidFill>
                  <a:srgbClr val="000000"/>
                </a:solidFill>
                <a:ea typeface="Gmarket Sans Light"/>
              </a:rPr>
              <a:t>지원</a:t>
            </a:r>
            <a:r>
              <a:rPr lang="en-US" sz="1600" b="1" i="0" u="none" strike="noStrike" spc="-100">
                <a:solidFill>
                  <a:srgbClr val="000000"/>
                </a:solidFill>
                <a:latin typeface="Gmarket Sans Light"/>
              </a:rPr>
              <a:t>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43100" y="7683500"/>
            <a:ext cx="32639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ko-KR" sz="1600" b="1" i="0" u="none" strike="noStrike" spc="-100">
                <a:solidFill>
                  <a:srgbClr val="000000"/>
                </a:solidFill>
                <a:ea typeface="Gmarket Sans Light"/>
              </a:rPr>
              <a:t>상태</a:t>
            </a:r>
            <a:r>
              <a:rPr lang="en-US" sz="16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600" b="1" i="0" u="none" strike="noStrike" spc="-100">
                <a:solidFill>
                  <a:srgbClr val="000000"/>
                </a:solidFill>
                <a:ea typeface="Gmarket Sans Light"/>
              </a:rPr>
              <a:t>관리</a:t>
            </a:r>
            <a:r>
              <a:rPr lang="en-US" sz="1600" b="1" i="0" u="none" strike="noStrike" spc="-100">
                <a:solidFill>
                  <a:srgbClr val="000000"/>
                </a:solidFill>
                <a:latin typeface="Gmarket Sans Light"/>
              </a:rPr>
              <a:t> : Provider, Redux</a:t>
            </a:r>
          </a:p>
          <a:p>
            <a:pPr lvl="0" algn="ctr">
              <a:lnSpc>
                <a:spcPct val="131970"/>
              </a:lnSpc>
            </a:pPr>
            <a:r>
              <a:rPr lang="en-US" sz="1600" b="1" i="0" u="none" strike="noStrike" spc="-100">
                <a:solidFill>
                  <a:srgbClr val="000000"/>
                </a:solidFill>
                <a:latin typeface="Gmarket Sans Light"/>
              </a:rPr>
              <a:t> </a:t>
            </a:r>
            <a:r>
              <a:rPr lang="ko-KR" sz="1600" b="1" i="0" u="none" strike="noStrike" spc="-100">
                <a:solidFill>
                  <a:srgbClr val="000000"/>
                </a:solidFill>
                <a:ea typeface="Gmarket Sans Light"/>
              </a:rPr>
              <a:t>시각화</a:t>
            </a:r>
            <a:r>
              <a:rPr lang="en-US" sz="1600" b="1" i="0" u="none" strike="noStrike" spc="-100">
                <a:solidFill>
                  <a:srgbClr val="000000"/>
                </a:solidFill>
                <a:latin typeface="Gmarket Sans Light"/>
              </a:rPr>
              <a:t> : Chart.js , Recharts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3">
            <a:alphaModFix amt="50000"/>
          </a:blip>
          <a:stretch>
            <a:fillRect/>
          </a:stretch>
        </p:blipFill>
        <p:spPr>
          <a:xfrm>
            <a:off x="5486400" y="3340100"/>
            <a:ext cx="3606800" cy="53721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0" y="5994400"/>
            <a:ext cx="3594100" cy="254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27700" y="3556000"/>
            <a:ext cx="3124200" cy="11938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5880100" y="4076700"/>
            <a:ext cx="28067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2009"/>
              </a:lnSpc>
            </a:pPr>
            <a:r>
              <a:rPr lang="ko-KR" sz="2600" b="0" i="0" u="none" strike="noStrike" spc="200">
                <a:solidFill>
                  <a:srgbClr val="3567D3"/>
                </a:solidFill>
                <a:ea typeface="Gmarket Sans Medium"/>
              </a:rPr>
              <a:t>백엔드</a:t>
            </a:r>
            <a:r>
              <a:rPr lang="en-US" sz="2600" b="0" i="0" u="none" strike="noStrike" spc="2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2600" b="0" i="0" u="none" strike="noStrike" spc="200">
                <a:solidFill>
                  <a:srgbClr val="3567D3"/>
                </a:solidFill>
                <a:ea typeface="Gmarket Sans Medium"/>
              </a:rPr>
              <a:t>서버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51500" y="5257800"/>
            <a:ext cx="32639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ko-KR" sz="1600" b="1" i="0" u="none" strike="noStrike" spc="-100">
                <a:solidFill>
                  <a:srgbClr val="000000"/>
                </a:solidFill>
                <a:ea typeface="Gmarket Sans Light"/>
              </a:rPr>
              <a:t>프레임워크</a:t>
            </a:r>
            <a:r>
              <a:rPr lang="en-US" sz="1600" b="1" i="0" u="none" strike="noStrike" spc="-100">
                <a:solidFill>
                  <a:srgbClr val="000000"/>
                </a:solidFill>
                <a:latin typeface="Gmarket Sans Light"/>
              </a:rPr>
              <a:t>: Spring Boot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832600" y="3759200"/>
            <a:ext cx="901700" cy="22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300" b="0" i="0" u="none" strike="noStrike">
                <a:solidFill>
                  <a:srgbClr val="598EFF"/>
                </a:solidFill>
                <a:latin typeface="Gmarket Sans Medium"/>
              </a:rPr>
              <a:t>02</a:t>
            </a: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0" y="7302500"/>
            <a:ext cx="3594100" cy="25400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5651500" y="6223000"/>
            <a:ext cx="3263900" cy="92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en-US" sz="1600" b="1" i="0" u="none" strike="noStrike" spc="-100">
                <a:solidFill>
                  <a:srgbClr val="000000"/>
                </a:solidFill>
                <a:latin typeface="Gmarket Sans Light"/>
              </a:rPr>
              <a:t>API: RESTful API (JSON </a:t>
            </a:r>
            <a:r>
              <a:rPr lang="ko-KR" sz="1600" b="1" i="0" u="none" strike="noStrike" spc="-100">
                <a:solidFill>
                  <a:srgbClr val="000000"/>
                </a:solidFill>
                <a:ea typeface="Gmarket Sans Light"/>
              </a:rPr>
              <a:t>기반</a:t>
            </a:r>
            <a:r>
              <a:rPr lang="en-US" sz="1600" b="1" i="0" u="none" strike="noStrike" spc="-100">
                <a:solidFill>
                  <a:srgbClr val="000000"/>
                </a:solidFill>
                <a:latin typeface="Gmarket Sans Light"/>
              </a:rPr>
              <a:t>)</a:t>
            </a:r>
          </a:p>
          <a:p>
            <a:pPr lvl="0" algn="ctr">
              <a:lnSpc>
                <a:spcPct val="131970"/>
              </a:lnSpc>
            </a:pPr>
            <a:r>
              <a:rPr lang="ko-KR" sz="1600" b="1" i="0" u="none" strike="noStrike" spc="-100">
                <a:solidFill>
                  <a:srgbClr val="000000"/>
                </a:solidFill>
                <a:ea typeface="Gmarket Sans Light"/>
              </a:rPr>
              <a:t>인증</a:t>
            </a:r>
            <a:r>
              <a:rPr lang="en-US" sz="1600" b="1" i="0" u="none" strike="noStrike" spc="-100">
                <a:solidFill>
                  <a:srgbClr val="000000"/>
                </a:solidFill>
                <a:latin typeface="Gmarket Sans Light"/>
              </a:rPr>
              <a:t>: Firebase Authentication, JWT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51500" y="7683500"/>
            <a:ext cx="32639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ko-KR" sz="1600" b="1" i="0" u="none" strike="noStrike" spc="-100">
                <a:solidFill>
                  <a:srgbClr val="000000"/>
                </a:solidFill>
                <a:ea typeface="Gmarket Sans Light"/>
              </a:rPr>
              <a:t>실시간</a:t>
            </a:r>
            <a:r>
              <a:rPr lang="en-US" sz="16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600" b="1" i="0" u="none" strike="noStrike" spc="-100">
                <a:solidFill>
                  <a:srgbClr val="000000"/>
                </a:solidFill>
                <a:ea typeface="Gmarket Sans Light"/>
              </a:rPr>
              <a:t>처리</a:t>
            </a:r>
            <a:r>
              <a:rPr lang="en-US" sz="1600" b="1" i="0" u="none" strike="noStrike" spc="-100">
                <a:solidFill>
                  <a:srgbClr val="000000"/>
                </a:solidFill>
                <a:latin typeface="Gmarket Sans Light"/>
              </a:rPr>
              <a:t>: Firebase Realtime DB (</a:t>
            </a:r>
            <a:r>
              <a:rPr lang="ko-KR" sz="1600" b="1" i="0" u="none" strike="noStrike" spc="-100">
                <a:solidFill>
                  <a:srgbClr val="000000"/>
                </a:solidFill>
                <a:ea typeface="Gmarket Sans Light"/>
              </a:rPr>
              <a:t>또는</a:t>
            </a:r>
            <a:r>
              <a:rPr lang="en-US" sz="1600" b="1" i="0" u="none" strike="noStrike" spc="-100">
                <a:solidFill>
                  <a:srgbClr val="000000"/>
                </a:solidFill>
                <a:latin typeface="Gmarket Sans Light"/>
              </a:rPr>
              <a:t> WebSocket)</a:t>
            </a: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10">
            <a:alphaModFix amt="50000"/>
          </a:blip>
          <a:stretch>
            <a:fillRect/>
          </a:stretch>
        </p:blipFill>
        <p:spPr>
          <a:xfrm>
            <a:off x="9194800" y="3340100"/>
            <a:ext cx="3606800" cy="53721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07500" y="5994400"/>
            <a:ext cx="3594100" cy="254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36100" y="3556000"/>
            <a:ext cx="3124200" cy="1193800"/>
          </a:xfrm>
          <a:prstGeom prst="rect">
            <a:avLst/>
          </a:prstGeom>
        </p:spPr>
      </p:pic>
      <p:sp>
        <p:nvSpPr>
          <p:cNvPr id="40" name="TextBox 40"/>
          <p:cNvSpPr txBox="1"/>
          <p:nvPr/>
        </p:nvSpPr>
        <p:spPr>
          <a:xfrm>
            <a:off x="9182100" y="4076700"/>
            <a:ext cx="36576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2009"/>
              </a:lnSpc>
            </a:pPr>
            <a:r>
              <a:rPr lang="ko-KR" sz="2400" b="0" i="0" u="none" strike="noStrike" spc="200">
                <a:solidFill>
                  <a:srgbClr val="3567D3"/>
                </a:solidFill>
                <a:ea typeface="Gmarket Sans Medium"/>
              </a:rPr>
              <a:t>데이터베이스</a:t>
            </a:r>
            <a:r>
              <a:rPr lang="en-US" sz="2400" b="0" i="0" u="none" strike="noStrike" spc="200">
                <a:solidFill>
                  <a:srgbClr val="3567D3"/>
                </a:solidFill>
                <a:latin typeface="Gmarket Sans Medium"/>
              </a:rPr>
              <a:t>/</a:t>
            </a:r>
            <a:r>
              <a:rPr lang="ko-KR" sz="2400" b="0" i="0" u="none" strike="noStrike" spc="200">
                <a:solidFill>
                  <a:srgbClr val="3567D3"/>
                </a:solidFill>
                <a:ea typeface="Gmarket Sans Medium"/>
              </a:rPr>
              <a:t>인프라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372600" y="5257800"/>
            <a:ext cx="32639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en-US" sz="1600" b="1" i="0" u="none" strike="noStrike" spc="-100">
                <a:solidFill>
                  <a:srgbClr val="000000"/>
                </a:solidFill>
                <a:latin typeface="Gmarket Sans Light"/>
              </a:rPr>
              <a:t>MySQL (</a:t>
            </a:r>
            <a:r>
              <a:rPr lang="ko-KR" sz="1600" b="1" i="0" u="none" strike="noStrike" spc="-100">
                <a:solidFill>
                  <a:srgbClr val="000000"/>
                </a:solidFill>
                <a:ea typeface="Gmarket Sans Light"/>
              </a:rPr>
              <a:t>학생</a:t>
            </a:r>
            <a:r>
              <a:rPr lang="en-US" sz="16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600" b="1" i="0" u="none" strike="noStrike" spc="-100">
                <a:solidFill>
                  <a:srgbClr val="000000"/>
                </a:solidFill>
                <a:ea typeface="Gmarket Sans Light"/>
              </a:rPr>
              <a:t>정보</a:t>
            </a:r>
            <a:r>
              <a:rPr lang="en-US" sz="1600" b="1" i="0" u="none" strike="noStrike" spc="-100">
                <a:solidFill>
                  <a:srgbClr val="000000"/>
                </a:solidFill>
                <a:latin typeface="Gmarket Sans Light"/>
              </a:rPr>
              <a:t>, </a:t>
            </a:r>
            <a:r>
              <a:rPr lang="ko-KR" sz="1600" b="1" i="0" u="none" strike="noStrike" spc="-100">
                <a:solidFill>
                  <a:srgbClr val="000000"/>
                </a:solidFill>
                <a:ea typeface="Gmarket Sans Light"/>
              </a:rPr>
              <a:t>출석</a:t>
            </a:r>
            <a:r>
              <a:rPr lang="en-US" sz="16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600" b="1" i="0" u="none" strike="noStrike" spc="-100">
                <a:solidFill>
                  <a:srgbClr val="000000"/>
                </a:solidFill>
                <a:ea typeface="Gmarket Sans Light"/>
              </a:rPr>
              <a:t>이력</a:t>
            </a:r>
            <a:r>
              <a:rPr lang="en-US" sz="1600" b="1" i="0" u="none" strike="noStrike" spc="-100">
                <a:solidFill>
                  <a:srgbClr val="000000"/>
                </a:solidFill>
                <a:latin typeface="Gmarket Sans Light"/>
              </a:rPr>
              <a:t>, </a:t>
            </a:r>
            <a:r>
              <a:rPr lang="ko-KR" sz="1600" b="1" i="0" u="none" strike="noStrike" spc="-100">
                <a:solidFill>
                  <a:srgbClr val="000000"/>
                </a:solidFill>
                <a:ea typeface="Gmarket Sans Light"/>
              </a:rPr>
              <a:t>포인트</a:t>
            </a:r>
            <a:r>
              <a:rPr lang="en-US" sz="1600" b="1" i="0" u="none" strike="noStrike" spc="-100">
                <a:solidFill>
                  <a:srgbClr val="000000"/>
                </a:solidFill>
                <a:latin typeface="Gmarket Sans Light"/>
              </a:rPr>
              <a:t>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553700" y="3759200"/>
            <a:ext cx="901700" cy="22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300" b="0" i="0" u="none" strike="noStrike">
                <a:solidFill>
                  <a:srgbClr val="598EFF"/>
                </a:solidFill>
                <a:latin typeface="Gmarket Sans Medium"/>
              </a:rPr>
              <a:t>03</a:t>
            </a:r>
          </a:p>
        </p:txBody>
      </p:sp>
      <p:pic>
        <p:nvPicPr>
          <p:cNvPr id="43" name="Picture 4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07500" y="7302500"/>
            <a:ext cx="3594100" cy="25400"/>
          </a:xfrm>
          <a:prstGeom prst="rect">
            <a:avLst/>
          </a:prstGeom>
        </p:spPr>
      </p:pic>
      <p:sp>
        <p:nvSpPr>
          <p:cNvPr id="44" name="TextBox 44"/>
          <p:cNvSpPr txBox="1"/>
          <p:nvPr/>
        </p:nvSpPr>
        <p:spPr>
          <a:xfrm>
            <a:off x="9372600" y="6375400"/>
            <a:ext cx="32639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Firebase Realtime DB (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빠른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동기화용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)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207500" y="7366000"/>
            <a:ext cx="3606800" cy="1333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ko-KR" sz="1400" b="1" i="0" u="none" strike="noStrike" spc="-100">
                <a:solidFill>
                  <a:srgbClr val="000000"/>
                </a:solidFill>
                <a:ea typeface="Gmarket Sans Light"/>
              </a:rPr>
              <a:t>클라우드</a:t>
            </a:r>
            <a:r>
              <a:rPr lang="en-US" sz="1400" b="1" i="0" u="none" strike="noStrike" spc="-100">
                <a:solidFill>
                  <a:srgbClr val="000000"/>
                </a:solidFill>
                <a:latin typeface="Gmarket Sans Light"/>
              </a:rPr>
              <a:t> : </a:t>
            </a:r>
          </a:p>
          <a:p>
            <a:pPr lvl="0" algn="ctr">
              <a:lnSpc>
                <a:spcPct val="131970"/>
              </a:lnSpc>
            </a:pPr>
            <a:r>
              <a:rPr lang="en-US" sz="1400" b="1" i="0" u="none" strike="noStrike" spc="-100">
                <a:solidFill>
                  <a:srgbClr val="000000"/>
                </a:solidFill>
                <a:latin typeface="Gmarket Sans Light"/>
              </a:rPr>
              <a:t>AWS (EC2 + RDS + S3) </a:t>
            </a:r>
            <a:r>
              <a:rPr lang="ko-KR" sz="1400" b="1" i="0" u="none" strike="noStrike" spc="-100">
                <a:solidFill>
                  <a:srgbClr val="000000"/>
                </a:solidFill>
                <a:ea typeface="Gmarket Sans Light"/>
              </a:rPr>
              <a:t>또는</a:t>
            </a:r>
            <a:r>
              <a:rPr lang="en-US" sz="1400" b="1" i="0" u="none" strike="noStrike" spc="-100">
                <a:solidFill>
                  <a:srgbClr val="000000"/>
                </a:solidFill>
                <a:latin typeface="Gmarket Sans Light"/>
              </a:rPr>
              <a:t> Supabase (Firebase </a:t>
            </a:r>
            <a:r>
              <a:rPr lang="ko-KR" sz="1400" b="1" i="0" u="none" strike="noStrike" spc="-100">
                <a:solidFill>
                  <a:srgbClr val="000000"/>
                </a:solidFill>
                <a:ea typeface="Gmarket Sans Light"/>
              </a:rPr>
              <a:t>대체</a:t>
            </a:r>
            <a:r>
              <a:rPr lang="en-US" sz="1400" b="1" i="0" u="none" strike="noStrike" spc="-100">
                <a:solidFill>
                  <a:srgbClr val="000000"/>
                </a:solidFill>
                <a:latin typeface="Gmarket Sans Light"/>
              </a:rPr>
              <a:t>)</a:t>
            </a:r>
          </a:p>
          <a:p>
            <a:pPr lvl="0" algn="ctr">
              <a:lnSpc>
                <a:spcPct val="131970"/>
              </a:lnSpc>
            </a:pPr>
            <a:r>
              <a:rPr lang="ko-KR" sz="1400" b="1" i="0" u="none" strike="noStrike" spc="-100">
                <a:solidFill>
                  <a:srgbClr val="000000"/>
                </a:solidFill>
                <a:ea typeface="Gmarket Sans Light"/>
              </a:rPr>
              <a:t>푸시</a:t>
            </a:r>
            <a:r>
              <a:rPr lang="en-US" sz="14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400" b="1" i="0" u="none" strike="noStrike" spc="-100">
                <a:solidFill>
                  <a:srgbClr val="000000"/>
                </a:solidFill>
                <a:ea typeface="Gmarket Sans Light"/>
              </a:rPr>
              <a:t>알림</a:t>
            </a:r>
            <a:r>
              <a:rPr lang="en-US" sz="1400" b="1" i="0" u="none" strike="noStrike" spc="-100">
                <a:solidFill>
                  <a:srgbClr val="000000"/>
                </a:solidFill>
                <a:latin typeface="Gmarket Sans Light"/>
              </a:rPr>
              <a:t>: </a:t>
            </a:r>
          </a:p>
          <a:p>
            <a:pPr lvl="0" algn="ctr">
              <a:lnSpc>
                <a:spcPct val="131970"/>
              </a:lnSpc>
            </a:pPr>
            <a:r>
              <a:rPr lang="en-US" sz="1400" b="1" i="0" u="none" strike="noStrike" spc="-100">
                <a:solidFill>
                  <a:srgbClr val="000000"/>
                </a:solidFill>
                <a:latin typeface="Gmarket Sans Light"/>
              </a:rPr>
              <a:t>Firebase Cloud Messaging (FCM) </a:t>
            </a:r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13">
            <a:alphaModFix amt="50000"/>
          </a:blip>
          <a:stretch>
            <a:fillRect/>
          </a:stretch>
        </p:blipFill>
        <p:spPr>
          <a:xfrm>
            <a:off x="12915900" y="3340100"/>
            <a:ext cx="3606800" cy="53721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915900" y="5994400"/>
            <a:ext cx="3594100" cy="254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157200" y="3556000"/>
            <a:ext cx="3124200" cy="1193800"/>
          </a:xfrm>
          <a:prstGeom prst="rect">
            <a:avLst/>
          </a:prstGeom>
        </p:spPr>
      </p:pic>
      <p:sp>
        <p:nvSpPr>
          <p:cNvPr id="49" name="TextBox 49"/>
          <p:cNvSpPr txBox="1"/>
          <p:nvPr/>
        </p:nvSpPr>
        <p:spPr>
          <a:xfrm>
            <a:off x="13309600" y="4076700"/>
            <a:ext cx="28067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2009"/>
              </a:lnSpc>
            </a:pPr>
            <a:r>
              <a:rPr lang="en-US" sz="2600" b="0" i="0" u="none" strike="noStrike" spc="200">
                <a:solidFill>
                  <a:srgbClr val="3567D3"/>
                </a:solidFill>
                <a:latin typeface="Gmarket Sans Medium"/>
              </a:rPr>
              <a:t>BLE &amp; QR </a:t>
            </a:r>
            <a:r>
              <a:rPr lang="ko-KR" sz="2600" b="0" i="0" u="none" strike="noStrike" spc="200">
                <a:solidFill>
                  <a:srgbClr val="3567D3"/>
                </a:solidFill>
                <a:ea typeface="Gmarket Sans Medium"/>
              </a:rPr>
              <a:t>인증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3081000" y="5080000"/>
            <a:ext cx="32639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BLE Beacon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장치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: UUID, Major, Minor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값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관리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4262100" y="3759200"/>
            <a:ext cx="901700" cy="22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300" b="0" i="0" u="none" strike="noStrike">
                <a:solidFill>
                  <a:srgbClr val="598EFF"/>
                </a:solidFill>
                <a:latin typeface="Gmarket Sans Medium"/>
              </a:rPr>
              <a:t>04</a:t>
            </a:r>
          </a:p>
        </p:txBody>
      </p:sp>
      <p:pic>
        <p:nvPicPr>
          <p:cNvPr id="52" name="Picture 5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915900" y="7302500"/>
            <a:ext cx="3594100" cy="25400"/>
          </a:xfrm>
          <a:prstGeom prst="rect">
            <a:avLst/>
          </a:prstGeom>
        </p:spPr>
      </p:pic>
      <p:sp>
        <p:nvSpPr>
          <p:cNvPr id="53" name="TextBox 53"/>
          <p:cNvSpPr txBox="1"/>
          <p:nvPr/>
        </p:nvSpPr>
        <p:spPr>
          <a:xfrm>
            <a:off x="13081000" y="6375400"/>
            <a:ext cx="32639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앱에서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비콘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신호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수신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→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거리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판단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→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출석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체크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3081000" y="7340600"/>
            <a:ext cx="3263900" cy="1295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QR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인증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(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백업용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)</a:t>
            </a:r>
          </a:p>
          <a:p>
            <a:pPr lvl="0" algn="ctr">
              <a:lnSpc>
                <a:spcPct val="131970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생성기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: qrcode.react</a:t>
            </a:r>
          </a:p>
          <a:p>
            <a:pPr lvl="0" algn="ctr">
              <a:lnSpc>
                <a:spcPct val="131970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스캐너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: react-native-camera</a:t>
            </a:r>
          </a:p>
          <a:p>
            <a:pPr lvl="0" algn="ctr">
              <a:lnSpc>
                <a:spcPct val="131970"/>
              </a:lnSpc>
            </a:pP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(BLE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불안정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시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대체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인증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수단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)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892300" y="2844800"/>
            <a:ext cx="20955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2800" b="0" i="0" u="none" strike="noStrike">
                <a:solidFill>
                  <a:srgbClr val="3567D3"/>
                </a:solidFill>
                <a:ea typeface="Pretendard Regular"/>
              </a:rPr>
              <a:t>기술</a:t>
            </a:r>
            <a:r>
              <a:rPr lang="en-US" sz="2800" b="0" i="0" u="none" strike="noStrike">
                <a:solidFill>
                  <a:srgbClr val="3567D3"/>
                </a:solidFill>
                <a:latin typeface="Pretendard Regular"/>
              </a:rPr>
              <a:t> </a:t>
            </a:r>
            <a:r>
              <a:rPr lang="ko-KR" sz="2800" b="0" i="0" u="none" strike="noStrike">
                <a:solidFill>
                  <a:srgbClr val="3567D3"/>
                </a:solidFill>
                <a:ea typeface="Pretendard Regular"/>
              </a:rPr>
              <a:t>스택</a:t>
            </a:r>
            <a:r>
              <a:rPr lang="en-US" sz="2800" b="0" i="0" u="none" strike="noStrike">
                <a:solidFill>
                  <a:srgbClr val="3567D3"/>
                </a:solidFill>
                <a:latin typeface="Pretendard Regular"/>
              </a:rPr>
              <a:t> </a:t>
            </a:r>
            <a:r>
              <a:rPr lang="ko-KR" sz="2800" b="0" i="0" u="none" strike="noStrike">
                <a:solidFill>
                  <a:srgbClr val="3567D3"/>
                </a:solidFill>
                <a:ea typeface="Pretendard Regular"/>
              </a:rPr>
              <a:t>구성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596900"/>
            <a:ext cx="2197100" cy="2146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200" y="584200"/>
            <a:ext cx="2197100" cy="2146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300" y="571500"/>
            <a:ext cx="2197100" cy="2146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100" y="571500"/>
            <a:ext cx="2197100" cy="2146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571500"/>
            <a:ext cx="2197100" cy="2146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2296" y="480667"/>
            <a:ext cx="2895600" cy="2146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1016000"/>
            <a:ext cx="16687800" cy="8763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0300" y="6921500"/>
            <a:ext cx="3708400" cy="2006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8700" y="6921500"/>
            <a:ext cx="3873500" cy="1993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4477302" y="711200"/>
            <a:ext cx="24511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500" b="0" i="0" u="none" strike="noStrike" spc="100" dirty="0">
                <a:solidFill>
                  <a:srgbClr val="598EFF"/>
                </a:solidFill>
                <a:latin typeface="Gmarket Sans Light" panose="020B0600000101010101" charset="-127"/>
                <a:ea typeface="Gmarket Sans Light" panose="020B0600000101010101" charset="-127"/>
              </a:rPr>
              <a:t>03.</a:t>
            </a:r>
            <a:r>
              <a:rPr lang="ko-KR" altLang="en-US" sz="1500" spc="100" dirty="0">
                <a:solidFill>
                  <a:srgbClr val="598EFF"/>
                </a:solidFill>
                <a:latin typeface="Gmarket Sans Light" panose="020B0600000101010101" charset="-127"/>
                <a:ea typeface="Gmarket Sans Light" panose="020B0600000101010101" charset="-127"/>
              </a:rPr>
              <a:t>시스템 구성 및 </a:t>
            </a:r>
            <a:r>
              <a:rPr lang="ko-KR" altLang="en-US" sz="1500" spc="100" dirty="0" err="1">
                <a:solidFill>
                  <a:srgbClr val="598EFF"/>
                </a:solidFill>
                <a:latin typeface="Gmarket Sans Light" panose="020B0600000101010101" charset="-127"/>
                <a:ea typeface="Gmarket Sans Light" panose="020B0600000101010101" charset="-127"/>
              </a:rPr>
              <a:t>기술스택</a:t>
            </a:r>
            <a:endParaRPr lang="en-US" altLang="ko-KR" sz="1500" spc="100" dirty="0">
              <a:solidFill>
                <a:srgbClr val="598EFF"/>
              </a:solidFill>
              <a:latin typeface="Gmarket Sans Light" panose="020B0600000101010101" charset="-127"/>
              <a:ea typeface="Gmarket Sans Light" panose="020B0600000101010101" charset="-127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6700" y="1701800"/>
            <a:ext cx="12687300" cy="1041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65300" y="1930400"/>
            <a:ext cx="558800" cy="558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3690600" y="2222500"/>
            <a:ext cx="673100" cy="25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156200" y="1803400"/>
            <a:ext cx="7988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4500" b="0" i="0" u="none" strike="noStrike" spc="100" dirty="0">
                <a:solidFill>
                  <a:srgbClr val="3567D3"/>
                </a:solidFill>
                <a:ea typeface="Gmarket Sans Medium"/>
              </a:rPr>
              <a:t>사용자</a:t>
            </a:r>
            <a:r>
              <a:rPr lang="en-US" sz="4500" b="0" i="0" u="none" strike="noStrike" spc="100" dirty="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4500" b="0" i="0" u="none" strike="noStrike" spc="100" dirty="0">
                <a:solidFill>
                  <a:srgbClr val="3567D3"/>
                </a:solidFill>
                <a:ea typeface="Gmarket Sans Medium"/>
              </a:rPr>
              <a:t>인터페이스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46400" y="1828800"/>
            <a:ext cx="1892300" cy="7747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3835400" y="1968500"/>
            <a:ext cx="7493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dirty="0">
                <a:solidFill>
                  <a:srgbClr val="FFFFFF"/>
                </a:solidFill>
                <a:latin typeface="Gmarket Sans Medium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136900" y="2108200"/>
            <a:ext cx="8890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Gmarket Sans Medium"/>
              </a:rPr>
              <a:t>chapter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25200" y="3873500"/>
            <a:ext cx="685800" cy="4953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3251200" y="3937000"/>
            <a:ext cx="26035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8726"/>
              </a:lnSpc>
            </a:pPr>
            <a:r>
              <a:rPr lang="ko-KR" sz="2000" b="0" i="0" u="none" strike="noStrike">
                <a:solidFill>
                  <a:srgbClr val="FFFFFF"/>
                </a:solidFill>
                <a:ea typeface="S-Core Dream 6 Bold"/>
              </a:rPr>
              <a:t>기획</a:t>
            </a:r>
            <a:r>
              <a:rPr lang="en-US" sz="2000" b="0" i="0" u="none" strike="noStrike">
                <a:solidFill>
                  <a:srgbClr val="FFFFFF"/>
                </a:solidFill>
                <a:latin typeface="S-Core Dream 6 Bold"/>
              </a:rPr>
              <a:t>&amp;</a:t>
            </a:r>
            <a:r>
              <a:rPr lang="ko-KR" sz="2000" b="0" i="0" u="none" strike="noStrike">
                <a:solidFill>
                  <a:srgbClr val="FFFFFF"/>
                </a:solidFill>
                <a:ea typeface="S-Core Dream 6 Bold"/>
              </a:rPr>
              <a:t>설계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80500" y="3937000"/>
            <a:ext cx="26035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8726"/>
              </a:lnSpc>
            </a:pPr>
            <a:r>
              <a:rPr lang="ko-KR" sz="2000" b="0" i="0" u="none" strike="noStrike">
                <a:solidFill>
                  <a:srgbClr val="FFFFFF"/>
                </a:solidFill>
                <a:ea typeface="S-Core Dream 6 Bold"/>
              </a:rPr>
              <a:t>기능</a:t>
            </a:r>
            <a:r>
              <a:rPr lang="en-US" sz="2000" b="0" i="0" u="none" strike="noStrike">
                <a:solidFill>
                  <a:srgbClr val="FFFFFF"/>
                </a:solidFill>
                <a:latin typeface="S-Core Dream 6 Bold"/>
              </a:rPr>
              <a:t> </a:t>
            </a:r>
            <a:r>
              <a:rPr lang="ko-KR" sz="2000" b="0" i="0" u="none" strike="noStrike">
                <a:solidFill>
                  <a:srgbClr val="FFFFFF"/>
                </a:solidFill>
                <a:ea typeface="S-Core Dream 6 Bold"/>
              </a:rPr>
              <a:t>구현</a:t>
            </a:r>
            <a:r>
              <a:rPr lang="en-US" sz="2000" b="0" i="0" u="none" strike="noStrike">
                <a:solidFill>
                  <a:srgbClr val="FFFFFF"/>
                </a:solidFill>
                <a:latin typeface="S-Core Dream 6 Bold"/>
              </a:rPr>
              <a:t>02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56050" y="3479800"/>
            <a:ext cx="3352800" cy="28956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48737" y="3492500"/>
            <a:ext cx="3340100" cy="28956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3594100" y="7480300"/>
            <a:ext cx="3403600" cy="876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8726"/>
              </a:lnSpc>
            </a:pPr>
            <a:r>
              <a:rPr lang="ko-KR" sz="2000" b="0" i="0" u="none" strike="noStrike">
                <a:solidFill>
                  <a:srgbClr val="598EFF"/>
                </a:solidFill>
                <a:ea typeface="Gmarket Sans Medium"/>
              </a:rPr>
              <a:t>간편하게</a:t>
            </a:r>
            <a:r>
              <a:rPr lang="en-US" sz="2000" b="0" i="0" u="none" strike="noStrike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2000" b="0" i="0" u="none" strike="noStrike">
                <a:solidFill>
                  <a:srgbClr val="598EFF"/>
                </a:solidFill>
                <a:ea typeface="Gmarket Sans Medium"/>
              </a:rPr>
              <a:t>자신의</a:t>
            </a:r>
            <a:r>
              <a:rPr lang="en-US" sz="2000" b="0" i="0" u="none" strike="noStrike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2000" b="0" i="0" u="none" strike="noStrike">
                <a:solidFill>
                  <a:srgbClr val="598EFF"/>
                </a:solidFill>
                <a:ea typeface="Gmarket Sans Medium"/>
              </a:rPr>
              <a:t>출석</a:t>
            </a:r>
            <a:r>
              <a:rPr lang="en-US" sz="2000" b="0" i="0" u="none" strike="noStrike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2000" b="0" i="0" u="none" strike="noStrike">
                <a:solidFill>
                  <a:srgbClr val="598EFF"/>
                </a:solidFill>
                <a:ea typeface="Gmarket Sans Medium"/>
              </a:rPr>
              <a:t>상태를</a:t>
            </a:r>
            <a:r>
              <a:rPr lang="en-US" sz="2000" b="0" i="0" u="none" strike="noStrike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2000" b="0" i="0" u="none" strike="noStrike">
                <a:solidFill>
                  <a:srgbClr val="598EFF"/>
                </a:solidFill>
                <a:ea typeface="Gmarket Sans Medium"/>
              </a:rPr>
              <a:t>확인하고</a:t>
            </a:r>
            <a:r>
              <a:rPr lang="en-US" sz="2000" b="0" i="0" u="none" strike="noStrike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2000" b="0" i="0" u="none" strike="noStrike">
                <a:solidFill>
                  <a:srgbClr val="598EFF"/>
                </a:solidFill>
                <a:ea typeface="Gmarket Sans Medium"/>
              </a:rPr>
              <a:t>이력을</a:t>
            </a:r>
            <a:r>
              <a:rPr lang="en-US" sz="2000" b="0" i="0" u="none" strike="noStrike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2000" b="0" i="0" u="none" strike="noStrike">
                <a:solidFill>
                  <a:srgbClr val="598EFF"/>
                </a:solidFill>
                <a:ea typeface="Gmarket Sans Medium"/>
              </a:rPr>
              <a:t>조회할</a:t>
            </a:r>
            <a:r>
              <a:rPr lang="en-US" sz="2000" b="0" i="0" u="none" strike="noStrike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2000" b="0" i="0" u="none" strike="noStrike">
                <a:solidFill>
                  <a:srgbClr val="598EFF"/>
                </a:solidFill>
                <a:ea typeface="Gmarket Sans Medium"/>
              </a:rPr>
              <a:t>수</a:t>
            </a:r>
            <a:r>
              <a:rPr lang="en-US" sz="2000" b="0" i="0" u="none" strike="noStrike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2000" b="0" i="0" u="none" strike="noStrike">
                <a:solidFill>
                  <a:srgbClr val="598EFF"/>
                </a:solidFill>
                <a:ea typeface="Gmarket Sans Medium"/>
              </a:rPr>
              <a:t>있습니다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492500" y="7048500"/>
            <a:ext cx="32258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56440"/>
              </a:lnSpc>
            </a:pPr>
            <a:r>
              <a:rPr lang="ko-KR" sz="2500" b="0" i="0" u="none" strike="noStrike" dirty="0">
                <a:solidFill>
                  <a:srgbClr val="FFFFFF"/>
                </a:solidFill>
                <a:ea typeface="Gmarket Sans Medium"/>
              </a:rPr>
              <a:t>학생</a:t>
            </a:r>
            <a:r>
              <a:rPr lang="en-US" sz="2500" b="0" i="0" u="none" strike="noStrike" dirty="0">
                <a:solidFill>
                  <a:srgbClr val="FFFFFF"/>
                </a:solidFill>
                <a:latin typeface="Gmarket Sans Medium"/>
              </a:rPr>
              <a:t> </a:t>
            </a:r>
            <a:r>
              <a:rPr lang="ko-KR" sz="2500" b="0" i="0" u="none" strike="noStrike" dirty="0">
                <a:solidFill>
                  <a:srgbClr val="FFFFFF"/>
                </a:solidFill>
                <a:ea typeface="Gmarket Sans Medium"/>
              </a:rPr>
              <a:t>앱</a:t>
            </a:r>
            <a:r>
              <a:rPr lang="en-US" sz="2500" b="0" i="0" u="none" strike="noStrike" dirty="0">
                <a:solidFill>
                  <a:srgbClr val="FFFFFF"/>
                </a:solidFill>
                <a:latin typeface="Gmarket Sans Medium"/>
              </a:rPr>
              <a:t> - </a:t>
            </a:r>
            <a:r>
              <a:rPr lang="ko-KR" sz="2500" b="0" i="0" u="none" strike="noStrike" dirty="0">
                <a:solidFill>
                  <a:srgbClr val="FFFFFF"/>
                </a:solidFill>
                <a:ea typeface="Gmarket Sans Medium"/>
              </a:rPr>
              <a:t>출석화면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880600" y="7048500"/>
            <a:ext cx="34925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56440"/>
              </a:lnSpc>
            </a:pPr>
            <a:r>
              <a:rPr lang="ko-KR" sz="2500" b="0" i="0" u="none" strike="noStrike">
                <a:solidFill>
                  <a:srgbClr val="FFFFFF"/>
                </a:solidFill>
                <a:ea typeface="Gmarket Sans Medium"/>
              </a:rPr>
              <a:t>관리자</a:t>
            </a:r>
            <a:r>
              <a:rPr lang="en-US" sz="2500" b="0" i="0" u="none" strike="noStrike">
                <a:solidFill>
                  <a:srgbClr val="FFFFFF"/>
                </a:solidFill>
                <a:latin typeface="Gmarket Sans Medium"/>
              </a:rPr>
              <a:t> </a:t>
            </a:r>
            <a:r>
              <a:rPr lang="ko-KR" sz="2500" b="0" i="0" u="none" strike="noStrike">
                <a:solidFill>
                  <a:srgbClr val="FFFFFF"/>
                </a:solidFill>
                <a:ea typeface="Gmarket Sans Medium"/>
              </a:rPr>
              <a:t>앱</a:t>
            </a:r>
            <a:r>
              <a:rPr lang="en-US" sz="2500" b="0" i="0" u="none" strike="noStrike">
                <a:solidFill>
                  <a:srgbClr val="FFFFFF"/>
                </a:solidFill>
                <a:latin typeface="Gmarket Sans Medium"/>
              </a:rPr>
              <a:t> - </a:t>
            </a:r>
            <a:r>
              <a:rPr lang="ko-KR" sz="2500" b="0" i="0" u="none" strike="noStrike">
                <a:solidFill>
                  <a:srgbClr val="FFFFFF"/>
                </a:solidFill>
                <a:ea typeface="Gmarket Sans Medium"/>
              </a:rPr>
              <a:t>대시보드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007600" y="7493000"/>
            <a:ext cx="3378200" cy="1143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8726"/>
              </a:lnSpc>
            </a:pPr>
            <a:r>
              <a:rPr lang="ko-KR" sz="2000" b="0" i="0" u="none" strike="noStrike" dirty="0">
                <a:solidFill>
                  <a:srgbClr val="598EFF"/>
                </a:solidFill>
                <a:ea typeface="Gmarket Sans Medium"/>
              </a:rPr>
              <a:t>기숙사</a:t>
            </a:r>
            <a:r>
              <a:rPr lang="en-US" sz="2000" b="0" i="0" u="none" strike="noStrike" dirty="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2000" b="0" i="0" u="none" strike="noStrike" dirty="0">
                <a:solidFill>
                  <a:srgbClr val="598EFF"/>
                </a:solidFill>
                <a:ea typeface="Gmarket Sans Medium"/>
              </a:rPr>
              <a:t>전체</a:t>
            </a:r>
            <a:r>
              <a:rPr lang="en-US" sz="2000" b="0" i="0" u="none" strike="noStrike" dirty="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2000" b="0" i="0" u="none" strike="noStrike" dirty="0">
                <a:solidFill>
                  <a:srgbClr val="598EFF"/>
                </a:solidFill>
                <a:ea typeface="Gmarket Sans Medium"/>
              </a:rPr>
              <a:t>현황을</a:t>
            </a:r>
            <a:r>
              <a:rPr lang="en-US" sz="2000" b="0" i="0" u="none" strike="noStrike" dirty="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2000" b="0" i="0" u="none" strike="noStrike" dirty="0">
                <a:solidFill>
                  <a:srgbClr val="598EFF"/>
                </a:solidFill>
                <a:ea typeface="Gmarket Sans Medium"/>
              </a:rPr>
              <a:t>한눈에</a:t>
            </a:r>
            <a:r>
              <a:rPr lang="en-US" sz="2000" b="0" i="0" u="none" strike="noStrike" dirty="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2000" b="0" i="0" u="none" strike="noStrike" dirty="0">
                <a:solidFill>
                  <a:srgbClr val="598EFF"/>
                </a:solidFill>
                <a:ea typeface="Gmarket Sans Medium"/>
              </a:rPr>
              <a:t>파악하고</a:t>
            </a:r>
            <a:r>
              <a:rPr lang="en-US" sz="2000" b="0" i="0" u="none" strike="noStrike" dirty="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2000" b="0" i="0" u="none" strike="noStrike" dirty="0">
                <a:solidFill>
                  <a:srgbClr val="598EFF"/>
                </a:solidFill>
                <a:ea typeface="Gmarket Sans Medium"/>
              </a:rPr>
              <a:t>효율적으로</a:t>
            </a:r>
            <a:r>
              <a:rPr lang="en-US" sz="2000" b="0" i="0" u="none" strike="noStrike" dirty="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2000" b="0" i="0" u="none" strike="noStrike" dirty="0">
                <a:solidFill>
                  <a:srgbClr val="598EFF"/>
                </a:solidFill>
                <a:ea typeface="Gmarket Sans Medium"/>
              </a:rPr>
              <a:t>관리할</a:t>
            </a:r>
            <a:r>
              <a:rPr lang="en-US" sz="2000" b="0" i="0" u="none" strike="noStrike" dirty="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2000" b="0" i="0" u="none" strike="noStrike" dirty="0">
                <a:solidFill>
                  <a:srgbClr val="598EFF"/>
                </a:solidFill>
                <a:ea typeface="Gmarket Sans Medium"/>
              </a:rPr>
              <a:t>수</a:t>
            </a:r>
            <a:r>
              <a:rPr lang="en-US" sz="2000" b="0" i="0" u="none" strike="noStrike" dirty="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2000" b="0" i="0" u="none" strike="noStrike" dirty="0">
                <a:solidFill>
                  <a:srgbClr val="598EFF"/>
                </a:solidFill>
                <a:ea typeface="Gmarket Sans Medium"/>
              </a:rPr>
              <a:t>있습니다</a:t>
            </a:r>
            <a:r>
              <a:rPr lang="en-US" sz="2000" b="0" i="0" u="none" strike="noStrike" dirty="0">
                <a:solidFill>
                  <a:srgbClr val="598EFF"/>
                </a:solidFill>
                <a:latin typeface="Gmarket Sans Medium"/>
              </a:rPr>
              <a:t>.</a:t>
            </a:r>
          </a:p>
          <a:p>
            <a:pPr lvl="0" algn="ctr">
              <a:lnSpc>
                <a:spcPct val="88726"/>
              </a:lnSpc>
            </a:pPr>
            <a:endParaRPr lang="en-US" sz="2000" b="0" i="0" u="none" strike="noStrike" dirty="0">
              <a:solidFill>
                <a:srgbClr val="598EFF"/>
              </a:solidFill>
              <a:latin typeface="Gmarket Sans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596900"/>
            <a:ext cx="2197100" cy="2146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200" y="584200"/>
            <a:ext cx="2197100" cy="2146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900" y="584200"/>
            <a:ext cx="2197100" cy="2146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100" y="571500"/>
            <a:ext cx="2197100" cy="2146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571500"/>
            <a:ext cx="2197100" cy="2146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900" y="482600"/>
            <a:ext cx="2895600" cy="2146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489700" y="635000"/>
            <a:ext cx="24511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500" b="0" i="0" u="none" strike="noStrike" spc="100">
                <a:solidFill>
                  <a:srgbClr val="598EFF"/>
                </a:solidFill>
                <a:latin typeface="Gmarket Sans Medium"/>
              </a:rPr>
              <a:t>04. </a:t>
            </a:r>
            <a:r>
              <a:rPr lang="ko-KR" sz="1500" b="0" i="0" u="none" strike="noStrike" spc="100">
                <a:solidFill>
                  <a:srgbClr val="598EFF"/>
                </a:solidFill>
                <a:ea typeface="Gmarket Sans Medium"/>
              </a:rPr>
              <a:t>개발</a:t>
            </a:r>
            <a:r>
              <a:rPr lang="en-US" sz="1500" b="0" i="0" u="none" strike="noStrike" spc="10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1500" b="0" i="0" u="none" strike="noStrike" spc="100">
                <a:solidFill>
                  <a:srgbClr val="598EFF"/>
                </a:solidFill>
                <a:ea typeface="Gmarket Sans Medium"/>
              </a:rPr>
              <a:t>일정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1016000"/>
            <a:ext cx="16687800" cy="8763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6700" y="1701800"/>
            <a:ext cx="12687300" cy="1041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65300" y="1930400"/>
            <a:ext cx="558800" cy="558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3690600" y="2222500"/>
            <a:ext cx="673100" cy="25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156200" y="1803400"/>
            <a:ext cx="7988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개발</a:t>
            </a:r>
            <a:r>
              <a:rPr lang="en-US" sz="4500" b="0" i="0" u="none" strike="noStrike" spc="1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일정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6400" y="1828800"/>
            <a:ext cx="1892300" cy="7747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3835400" y="1968500"/>
            <a:ext cx="7493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>
                <a:solidFill>
                  <a:srgbClr val="FFFFFF"/>
                </a:solidFill>
                <a:latin typeface="Gmarket Sans Medium"/>
              </a:rPr>
              <a:t>04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36900" y="2108200"/>
            <a:ext cx="8890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Gmarket Sans Medium"/>
              </a:rPr>
              <a:t>chapter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7100" y="3543300"/>
            <a:ext cx="4559300" cy="42672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3111500" y="6108700"/>
            <a:ext cx="24511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8527"/>
              </a:lnSpc>
            </a:pP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김효은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:   BLE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비콘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신호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수신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테스트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(Android),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기본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앱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화면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설계</a:t>
            </a:r>
          </a:p>
          <a:p>
            <a:pPr lvl="0" algn="ctr">
              <a:lnSpc>
                <a:spcPct val="138527"/>
              </a:lnSpc>
            </a:pP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최종호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:   DB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스키마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설계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(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학생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,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출석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,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외출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등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),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기본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API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기획</a:t>
            </a:r>
          </a:p>
          <a:p>
            <a:pPr lvl="0" algn="ctr">
              <a:lnSpc>
                <a:spcPct val="138527"/>
              </a:lnSpc>
            </a:pP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정민제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: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관리자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페이지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레이아웃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기획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,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대시보드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구조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기획</a:t>
            </a:r>
          </a:p>
          <a:p>
            <a:pPr lvl="0" algn="ctr">
              <a:lnSpc>
                <a:spcPct val="138527"/>
              </a:lnSpc>
            </a:pP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라야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: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페르소나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/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시나리오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작성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,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앱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/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웹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와이어프레임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제작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(Figma)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81400" y="4191000"/>
            <a:ext cx="1473200" cy="1206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55957"/>
              </a:lnSpc>
            </a:pPr>
            <a:r>
              <a:rPr lang="en-US" sz="6800" b="0" i="0" u="none" strike="noStrike" spc="-400">
                <a:solidFill>
                  <a:srgbClr val="6A88AF"/>
                </a:solidFill>
                <a:latin typeface="S-Core Dream 5 Medium"/>
              </a:rPr>
              <a:t>1</a:t>
            </a:r>
            <a:r>
              <a:rPr lang="ko-KR" sz="6800" b="0" i="0" u="none" strike="noStrike" spc="-400">
                <a:solidFill>
                  <a:srgbClr val="6A88AF"/>
                </a:solidFill>
                <a:ea typeface="S-Core Dream 5 Medium"/>
              </a:rPr>
              <a:t>차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3873500"/>
            <a:ext cx="685800" cy="4953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34100" y="3543300"/>
            <a:ext cx="3873500" cy="42418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446000" y="3543300"/>
            <a:ext cx="3657600" cy="4279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96400" y="3543300"/>
            <a:ext cx="3873500" cy="42418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3149600" y="5422900"/>
            <a:ext cx="23495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3669"/>
              </a:lnSpc>
            </a:pPr>
            <a:r>
              <a:rPr lang="ko-KR" sz="1500" b="0" i="0" u="none" strike="noStrike" spc="-100">
                <a:solidFill>
                  <a:srgbClr val="32333B"/>
                </a:solidFill>
                <a:ea typeface="S-Core Dream 5 Medium"/>
              </a:rPr>
              <a:t>기초</a:t>
            </a:r>
            <a:r>
              <a:rPr lang="en-US" sz="1500" b="0" i="0" u="none" strike="noStrike" spc="-100">
                <a:solidFill>
                  <a:srgbClr val="32333B"/>
                </a:solidFill>
                <a:latin typeface="S-Core Dream 5 Medium"/>
              </a:rPr>
              <a:t> </a:t>
            </a:r>
            <a:r>
              <a:rPr lang="ko-KR" sz="1500" b="0" i="0" u="none" strike="noStrike" spc="-100">
                <a:solidFill>
                  <a:srgbClr val="32333B"/>
                </a:solidFill>
                <a:ea typeface="S-Core Dream 5 Medium"/>
              </a:rPr>
              <a:t>구조</a:t>
            </a:r>
            <a:r>
              <a:rPr lang="en-US" sz="1500" b="0" i="0" u="none" strike="noStrike" spc="-100">
                <a:solidFill>
                  <a:srgbClr val="32333B"/>
                </a:solidFill>
                <a:latin typeface="S-Core Dream 5 Medium"/>
              </a:rPr>
              <a:t> </a:t>
            </a:r>
            <a:r>
              <a:rPr lang="ko-KR" sz="1500" b="0" i="0" u="none" strike="noStrike" spc="-100">
                <a:solidFill>
                  <a:srgbClr val="32333B"/>
                </a:solidFill>
                <a:ea typeface="S-Core Dream 5 Medium"/>
              </a:rPr>
              <a:t>설계</a:t>
            </a:r>
            <a:r>
              <a:rPr lang="en-US" sz="1500" b="0" i="0" u="none" strike="noStrike" spc="-100">
                <a:solidFill>
                  <a:srgbClr val="32333B"/>
                </a:solidFill>
                <a:latin typeface="S-Core Dream 5 Medium"/>
              </a:rPr>
              <a:t> + BLE </a:t>
            </a:r>
            <a:r>
              <a:rPr lang="ko-KR" sz="1500" b="0" i="0" u="none" strike="noStrike" spc="-100">
                <a:solidFill>
                  <a:srgbClr val="32333B"/>
                </a:solidFill>
                <a:ea typeface="S-Core Dream 5 Medium"/>
              </a:rPr>
              <a:t>테스트</a:t>
            </a:r>
            <a:r>
              <a:rPr lang="en-US" sz="1500" b="0" i="0" u="none" strike="noStrike" spc="-100">
                <a:solidFill>
                  <a:srgbClr val="32333B"/>
                </a:solidFill>
                <a:latin typeface="S-Core Dream 5 Medium"/>
              </a:rPr>
              <a:t> + UI </a:t>
            </a:r>
            <a:r>
              <a:rPr lang="ko-KR" sz="1500" b="0" i="0" u="none" strike="noStrike" spc="-100">
                <a:solidFill>
                  <a:srgbClr val="32333B"/>
                </a:solidFill>
                <a:ea typeface="S-Core Dream 5 Medium"/>
              </a:rPr>
              <a:t>와이어프레임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67500" y="6197600"/>
            <a:ext cx="2197100" cy="990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8527"/>
              </a:lnSpc>
            </a:pP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김효은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:   BLE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기반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출석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기능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구현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,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출석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기록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화면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개발</a:t>
            </a:r>
          </a:p>
          <a:p>
            <a:pPr lvl="0" algn="l">
              <a:lnSpc>
                <a:spcPct val="138527"/>
              </a:lnSpc>
            </a:pP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최종호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: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출석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등록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/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조회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API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개발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,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외출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신청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로직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개발</a:t>
            </a:r>
          </a:p>
          <a:p>
            <a:pPr lvl="0" algn="l">
              <a:lnSpc>
                <a:spcPct val="138527"/>
              </a:lnSpc>
            </a:pP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정민제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: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관리자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웹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: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외출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승인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/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반려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UI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구현</a:t>
            </a:r>
          </a:p>
          <a:p>
            <a:pPr lvl="0" algn="l">
              <a:lnSpc>
                <a:spcPct val="138527"/>
              </a:lnSpc>
            </a:pP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라야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:UI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피드백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정리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,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관리자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매뉴얼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작성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초안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시작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804400" y="6108700"/>
            <a:ext cx="22606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8527"/>
              </a:lnSpc>
            </a:pP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김효은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:   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외출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신청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및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승인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상태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조회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화면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구현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, FCM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알림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기능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적용</a:t>
            </a:r>
          </a:p>
          <a:p>
            <a:pPr lvl="0" algn="l">
              <a:lnSpc>
                <a:spcPct val="138527"/>
              </a:lnSpc>
            </a:pP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최종호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: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관리자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수동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출석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조정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API,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통계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로직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추가</a:t>
            </a:r>
          </a:p>
          <a:p>
            <a:pPr lvl="0" algn="l">
              <a:lnSpc>
                <a:spcPct val="138527"/>
              </a:lnSpc>
            </a:pP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정민제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: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실시간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대시보드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기능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구현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, Chart.js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활용한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통계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시각화</a:t>
            </a:r>
          </a:p>
          <a:p>
            <a:pPr lvl="0" algn="l">
              <a:lnSpc>
                <a:spcPct val="138527"/>
              </a:lnSpc>
            </a:pP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라야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: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발표용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PPT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구성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,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디자인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요소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확정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,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피드백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수렴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정리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954000" y="6108700"/>
            <a:ext cx="23241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8527"/>
              </a:lnSpc>
            </a:pP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김효은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: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전반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앱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UI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다듬기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, BLE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오작동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대비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예외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처리</a:t>
            </a:r>
          </a:p>
          <a:p>
            <a:pPr lvl="0" algn="l">
              <a:lnSpc>
                <a:spcPct val="138527"/>
              </a:lnSpc>
            </a:pP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최종호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: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서버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성능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점검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,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보안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점검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(JWT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등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)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및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로그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처리</a:t>
            </a:r>
          </a:p>
          <a:p>
            <a:pPr lvl="0" algn="l">
              <a:lnSpc>
                <a:spcPct val="138527"/>
              </a:lnSpc>
            </a:pP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정민제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:   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관리자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대시보드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마무리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,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관리자용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FAQ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페이지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작성</a:t>
            </a:r>
          </a:p>
          <a:p>
            <a:pPr lvl="0" algn="l">
              <a:lnSpc>
                <a:spcPct val="138527"/>
              </a:lnSpc>
            </a:pP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라야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:   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최종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발표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PPT,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보고서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,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기술문서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정리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및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제출</a:t>
            </a:r>
            <a:r>
              <a:rPr lang="en-US" sz="800" b="0" i="0" u="none" strike="noStrike">
                <a:solidFill>
                  <a:srgbClr val="32333B"/>
                </a:solidFill>
                <a:latin typeface="S-Core Dream 4 Regular"/>
              </a:rPr>
              <a:t> </a:t>
            </a:r>
            <a:r>
              <a:rPr lang="ko-KR" sz="800" b="0" i="0" u="none" strike="noStrike">
                <a:solidFill>
                  <a:srgbClr val="32333B"/>
                </a:solidFill>
                <a:ea typeface="S-Core Dream 4 Regular"/>
              </a:rPr>
              <a:t>준비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46900" y="4102100"/>
            <a:ext cx="1473200" cy="1206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55957"/>
              </a:lnSpc>
            </a:pPr>
            <a:r>
              <a:rPr lang="en-US" sz="6800" b="0" i="0" u="none" strike="noStrike" spc="-400">
                <a:solidFill>
                  <a:srgbClr val="A3C8D1"/>
                </a:solidFill>
                <a:latin typeface="S-Core Dream 5 Medium"/>
              </a:rPr>
              <a:t>2</a:t>
            </a:r>
            <a:r>
              <a:rPr lang="ko-KR" sz="6800" b="0" i="0" u="none" strike="noStrike" spc="-400">
                <a:solidFill>
                  <a:srgbClr val="A3C8D1"/>
                </a:solidFill>
                <a:ea typeface="S-Core Dream 5 Medium"/>
              </a:rPr>
              <a:t>차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578600" y="5410200"/>
            <a:ext cx="23368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8609"/>
              </a:lnSpc>
            </a:pPr>
            <a:r>
              <a:rPr lang="ko-KR" sz="1400" b="0" i="0" u="none" strike="noStrike" spc="-200">
                <a:solidFill>
                  <a:srgbClr val="32333B"/>
                </a:solidFill>
                <a:ea typeface="S-Core Dream 5 Medium"/>
              </a:rPr>
              <a:t>핵심</a:t>
            </a:r>
            <a:r>
              <a:rPr lang="en-US" sz="1400" b="0" i="0" u="none" strike="noStrike" spc="-200">
                <a:solidFill>
                  <a:srgbClr val="32333B"/>
                </a:solidFill>
                <a:latin typeface="S-Core Dream 5 Medium"/>
              </a:rPr>
              <a:t> </a:t>
            </a:r>
            <a:r>
              <a:rPr lang="ko-KR" sz="1400" b="0" i="0" u="none" strike="noStrike" spc="-200">
                <a:solidFill>
                  <a:srgbClr val="32333B"/>
                </a:solidFill>
                <a:ea typeface="S-Core Dream 5 Medium"/>
              </a:rPr>
              <a:t>기능</a:t>
            </a:r>
            <a:r>
              <a:rPr lang="en-US" sz="1400" b="0" i="0" u="none" strike="noStrike" spc="-200">
                <a:solidFill>
                  <a:srgbClr val="32333B"/>
                </a:solidFill>
                <a:latin typeface="S-Core Dream 5 Medium"/>
              </a:rPr>
              <a:t> </a:t>
            </a:r>
            <a:r>
              <a:rPr lang="ko-KR" sz="1400" b="0" i="0" u="none" strike="noStrike" spc="-200">
                <a:solidFill>
                  <a:srgbClr val="32333B"/>
                </a:solidFill>
                <a:ea typeface="S-Core Dream 5 Medium"/>
              </a:rPr>
              <a:t>구현</a:t>
            </a:r>
            <a:r>
              <a:rPr lang="en-US" sz="1400" b="0" i="0" u="none" strike="noStrike" spc="-200">
                <a:solidFill>
                  <a:srgbClr val="32333B"/>
                </a:solidFill>
                <a:latin typeface="S-Core Dream 5 Medium"/>
              </a:rPr>
              <a:t> </a:t>
            </a:r>
            <a:r>
              <a:rPr lang="ko-KR" sz="1400" b="0" i="0" u="none" strike="noStrike" spc="-200">
                <a:solidFill>
                  <a:srgbClr val="32333B"/>
                </a:solidFill>
                <a:ea typeface="S-Core Dream 5 Medium"/>
              </a:rPr>
              <a:t>시작</a:t>
            </a:r>
            <a:r>
              <a:rPr lang="en-US" sz="1400" b="0" i="0" u="none" strike="noStrike" spc="-200">
                <a:solidFill>
                  <a:srgbClr val="32333B"/>
                </a:solidFill>
                <a:latin typeface="S-Core Dream 5 Medium"/>
              </a:rPr>
              <a:t> (</a:t>
            </a:r>
            <a:r>
              <a:rPr lang="ko-KR" sz="1400" b="0" i="0" u="none" strike="noStrike" spc="-200">
                <a:solidFill>
                  <a:srgbClr val="32333B"/>
                </a:solidFill>
                <a:ea typeface="S-Core Dream 5 Medium"/>
              </a:rPr>
              <a:t>자동</a:t>
            </a:r>
            <a:r>
              <a:rPr lang="en-US" sz="1400" b="0" i="0" u="none" strike="noStrike" spc="-200">
                <a:solidFill>
                  <a:srgbClr val="32333B"/>
                </a:solidFill>
                <a:latin typeface="S-Core Dream 5 Medium"/>
              </a:rPr>
              <a:t> </a:t>
            </a:r>
            <a:r>
              <a:rPr lang="ko-KR" sz="1400" b="0" i="0" u="none" strike="noStrike" spc="-200">
                <a:solidFill>
                  <a:srgbClr val="32333B"/>
                </a:solidFill>
                <a:ea typeface="S-Core Dream 5 Medium"/>
              </a:rPr>
              <a:t>점호</a:t>
            </a:r>
            <a:r>
              <a:rPr lang="en-US" sz="1400" b="0" i="0" u="none" strike="noStrike" spc="-200">
                <a:solidFill>
                  <a:srgbClr val="32333B"/>
                </a:solidFill>
                <a:latin typeface="S-Core Dream 5 Medium"/>
              </a:rPr>
              <a:t>, </a:t>
            </a:r>
            <a:r>
              <a:rPr lang="ko-KR" sz="1400" b="0" i="0" u="none" strike="noStrike" spc="-200">
                <a:solidFill>
                  <a:srgbClr val="32333B"/>
                </a:solidFill>
                <a:ea typeface="S-Core Dream 5 Medium"/>
              </a:rPr>
              <a:t>외출</a:t>
            </a:r>
            <a:r>
              <a:rPr lang="en-US" sz="1400" b="0" i="0" u="none" strike="noStrike" spc="-200">
                <a:solidFill>
                  <a:srgbClr val="32333B"/>
                </a:solidFill>
                <a:latin typeface="S-Core Dream 5 Medium"/>
              </a:rPr>
              <a:t> </a:t>
            </a:r>
            <a:r>
              <a:rPr lang="ko-KR" sz="1400" b="0" i="0" u="none" strike="noStrike" spc="-200">
                <a:solidFill>
                  <a:srgbClr val="32333B"/>
                </a:solidFill>
                <a:ea typeface="S-Core Dream 5 Medium"/>
              </a:rPr>
              <a:t>신청</a:t>
            </a:r>
            <a:r>
              <a:rPr lang="en-US" sz="1400" b="0" i="0" u="none" strike="noStrike" spc="-200">
                <a:solidFill>
                  <a:srgbClr val="32333B"/>
                </a:solidFill>
                <a:latin typeface="S-Core Dream 5 Medium"/>
              </a:rPr>
              <a:t> </a:t>
            </a:r>
            <a:r>
              <a:rPr lang="ko-KR" sz="1400" b="0" i="0" u="none" strike="noStrike" spc="-200">
                <a:solidFill>
                  <a:srgbClr val="32333B"/>
                </a:solidFill>
                <a:ea typeface="S-Core Dream 5 Medium"/>
              </a:rPr>
              <a:t>등</a:t>
            </a:r>
            <a:r>
              <a:rPr lang="en-US" sz="1400" b="0" i="0" u="none" strike="noStrike" spc="-200">
                <a:solidFill>
                  <a:srgbClr val="32333B"/>
                </a:solidFill>
                <a:latin typeface="S-Core Dream 5 Medium"/>
              </a:rPr>
              <a:t>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172700" y="4102100"/>
            <a:ext cx="1473200" cy="1206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55957"/>
              </a:lnSpc>
            </a:pPr>
            <a:r>
              <a:rPr lang="en-US" sz="6800" b="0" i="0" u="none" strike="noStrike" spc="-400">
                <a:solidFill>
                  <a:srgbClr val="D9C6B7"/>
                </a:solidFill>
                <a:latin typeface="S-Core Dream 5 Medium"/>
              </a:rPr>
              <a:t>3</a:t>
            </a:r>
            <a:r>
              <a:rPr lang="ko-KR" sz="6800" b="0" i="0" u="none" strike="noStrike" spc="-400">
                <a:solidFill>
                  <a:srgbClr val="D9C6B7"/>
                </a:solidFill>
                <a:ea typeface="S-Core Dream 5 Medium"/>
              </a:rPr>
              <a:t>차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893300" y="5410200"/>
            <a:ext cx="2336800" cy="546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6950"/>
              </a:lnSpc>
            </a:pPr>
            <a:r>
              <a:rPr lang="ko-KR" sz="1400" b="0" i="0" u="none" strike="noStrike" spc="-100">
                <a:solidFill>
                  <a:srgbClr val="32333B"/>
                </a:solidFill>
                <a:ea typeface="S-Core Dream 5 Medium"/>
              </a:rPr>
              <a:t>전체</a:t>
            </a:r>
            <a:r>
              <a:rPr lang="en-US" sz="1400" b="0" i="0" u="none" strike="noStrike" spc="-100">
                <a:solidFill>
                  <a:srgbClr val="32333B"/>
                </a:solidFill>
                <a:latin typeface="S-Core Dream 5 Medium"/>
              </a:rPr>
              <a:t> </a:t>
            </a:r>
            <a:r>
              <a:rPr lang="ko-KR" sz="1400" b="0" i="0" u="none" strike="noStrike" spc="-100">
                <a:solidFill>
                  <a:srgbClr val="32333B"/>
                </a:solidFill>
                <a:ea typeface="S-Core Dream 5 Medium"/>
              </a:rPr>
              <a:t>기능</a:t>
            </a:r>
            <a:r>
              <a:rPr lang="en-US" sz="1400" b="0" i="0" u="none" strike="noStrike" spc="-100">
                <a:solidFill>
                  <a:srgbClr val="32333B"/>
                </a:solidFill>
                <a:latin typeface="S-Core Dream 5 Medium"/>
              </a:rPr>
              <a:t> </a:t>
            </a:r>
            <a:r>
              <a:rPr lang="ko-KR" sz="1400" b="0" i="0" u="none" strike="noStrike" spc="-100">
                <a:solidFill>
                  <a:srgbClr val="32333B"/>
                </a:solidFill>
                <a:ea typeface="S-Core Dream 5 Medium"/>
              </a:rPr>
              <a:t>연동</a:t>
            </a:r>
            <a:r>
              <a:rPr lang="en-US" sz="1400" b="0" i="0" u="none" strike="noStrike" spc="-100">
                <a:solidFill>
                  <a:srgbClr val="32333B"/>
                </a:solidFill>
                <a:latin typeface="S-Core Dream 5 Medium"/>
              </a:rPr>
              <a:t> + </a:t>
            </a:r>
            <a:r>
              <a:rPr lang="ko-KR" sz="1400" b="0" i="0" u="none" strike="noStrike" spc="-100">
                <a:solidFill>
                  <a:srgbClr val="32333B"/>
                </a:solidFill>
                <a:ea typeface="S-Core Dream 5 Medium"/>
              </a:rPr>
              <a:t>관리자</a:t>
            </a:r>
            <a:r>
              <a:rPr lang="en-US" sz="1400" b="0" i="0" u="none" strike="noStrike" spc="-100">
                <a:solidFill>
                  <a:srgbClr val="32333B"/>
                </a:solidFill>
                <a:latin typeface="S-Core Dream 5 Medium"/>
              </a:rPr>
              <a:t> </a:t>
            </a:r>
            <a:r>
              <a:rPr lang="ko-KR" sz="1400" b="0" i="0" u="none" strike="noStrike" spc="-100">
                <a:solidFill>
                  <a:srgbClr val="32333B"/>
                </a:solidFill>
                <a:ea typeface="S-Core Dream 5 Medium"/>
              </a:rPr>
              <a:t>기능</a:t>
            </a:r>
            <a:r>
              <a:rPr lang="en-US" sz="1400" b="0" i="0" u="none" strike="noStrike" spc="-100">
                <a:solidFill>
                  <a:srgbClr val="32333B"/>
                </a:solidFill>
                <a:latin typeface="S-Core Dream 5 Medium"/>
              </a:rPr>
              <a:t> </a:t>
            </a:r>
            <a:r>
              <a:rPr lang="ko-KR" sz="1400" b="0" i="0" u="none" strike="noStrike" spc="-100">
                <a:solidFill>
                  <a:srgbClr val="32333B"/>
                </a:solidFill>
                <a:ea typeface="S-Core Dream 5 Medium"/>
              </a:rPr>
              <a:t>구현</a:t>
            </a:r>
            <a:r>
              <a:rPr lang="en-US" sz="1400" b="0" i="0" u="none" strike="noStrike" spc="-100">
                <a:solidFill>
                  <a:srgbClr val="32333B"/>
                </a:solidFill>
                <a:latin typeface="S-Core Dream 5 Medium"/>
              </a:rPr>
              <a:t> + </a:t>
            </a:r>
            <a:r>
              <a:rPr lang="ko-KR" sz="1400" b="0" i="0" u="none" strike="noStrike" spc="-100">
                <a:solidFill>
                  <a:srgbClr val="32333B"/>
                </a:solidFill>
                <a:ea typeface="S-Core Dream 5 Medium"/>
              </a:rPr>
              <a:t>테스트</a:t>
            </a:r>
            <a:r>
              <a:rPr lang="en-US" sz="1400" b="0" i="0" u="none" strike="noStrike" spc="-100">
                <a:solidFill>
                  <a:srgbClr val="32333B"/>
                </a:solidFill>
                <a:latin typeface="S-Core Dream 5 Medium"/>
              </a:rPr>
              <a:t> </a:t>
            </a:r>
            <a:r>
              <a:rPr lang="ko-KR" sz="1400" b="0" i="0" u="none" strike="noStrike" spc="-100">
                <a:solidFill>
                  <a:srgbClr val="32333B"/>
                </a:solidFill>
                <a:ea typeface="S-Core Dream 5 Medium"/>
              </a:rPr>
              <a:t>시작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462000" y="4102100"/>
            <a:ext cx="1473200" cy="1206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55957"/>
              </a:lnSpc>
            </a:pPr>
            <a:r>
              <a:rPr lang="en-US" sz="6800" b="0" i="0" u="none" strike="noStrike" spc="-400">
                <a:solidFill>
                  <a:srgbClr val="B4C9E6"/>
                </a:solidFill>
                <a:latin typeface="S-Core Dream 5 Medium"/>
              </a:rPr>
              <a:t>4</a:t>
            </a:r>
            <a:r>
              <a:rPr lang="ko-KR" sz="6800" b="0" i="0" u="none" strike="noStrike" spc="-400">
                <a:solidFill>
                  <a:srgbClr val="B4C9E6"/>
                </a:solidFill>
                <a:ea typeface="S-Core Dream 5 Medium"/>
              </a:rPr>
              <a:t>차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941300" y="5397500"/>
            <a:ext cx="23368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3669"/>
              </a:lnSpc>
            </a:pPr>
            <a:r>
              <a:rPr lang="ko-KR" sz="1400" b="0" i="0" u="none" strike="noStrike" spc="-100">
                <a:solidFill>
                  <a:srgbClr val="32333B"/>
                </a:solidFill>
                <a:ea typeface="S-Core Dream 5 Medium"/>
              </a:rPr>
              <a:t>테스트</a:t>
            </a:r>
            <a:r>
              <a:rPr lang="en-US" sz="1400" b="0" i="0" u="none" strike="noStrike" spc="-100">
                <a:solidFill>
                  <a:srgbClr val="32333B"/>
                </a:solidFill>
                <a:latin typeface="S-Core Dream 5 Medium"/>
              </a:rPr>
              <a:t> → </a:t>
            </a:r>
            <a:r>
              <a:rPr lang="ko-KR" sz="1400" b="0" i="0" u="none" strike="noStrike" spc="-100">
                <a:solidFill>
                  <a:srgbClr val="32333B"/>
                </a:solidFill>
                <a:ea typeface="S-Core Dream 5 Medium"/>
              </a:rPr>
              <a:t>디버깅</a:t>
            </a:r>
            <a:r>
              <a:rPr lang="en-US" sz="1400" b="0" i="0" u="none" strike="noStrike" spc="-100">
                <a:solidFill>
                  <a:srgbClr val="32333B"/>
                </a:solidFill>
                <a:latin typeface="S-Core Dream 5 Medium"/>
              </a:rPr>
              <a:t> → </a:t>
            </a:r>
            <a:r>
              <a:rPr lang="ko-KR" sz="1400" b="0" i="0" u="none" strike="noStrike" spc="-100">
                <a:solidFill>
                  <a:srgbClr val="32333B"/>
                </a:solidFill>
                <a:ea typeface="S-Core Dream 5 Medium"/>
              </a:rPr>
              <a:t>발표자료</a:t>
            </a:r>
            <a:r>
              <a:rPr lang="en-US" sz="1400" b="0" i="0" u="none" strike="noStrike" spc="-100">
                <a:solidFill>
                  <a:srgbClr val="32333B"/>
                </a:solidFill>
                <a:latin typeface="S-Core Dream 5 Medium"/>
              </a:rPr>
              <a:t> </a:t>
            </a:r>
            <a:r>
              <a:rPr lang="ko-KR" sz="1400" b="0" i="0" u="none" strike="noStrike" spc="-100">
                <a:solidFill>
                  <a:srgbClr val="32333B"/>
                </a:solidFill>
                <a:ea typeface="S-Core Dream 5 Medium"/>
              </a:rPr>
              <a:t>완성</a:t>
            </a:r>
            <a:r>
              <a:rPr lang="en-US" sz="1400" b="0" i="0" u="none" strike="noStrike" spc="-100">
                <a:solidFill>
                  <a:srgbClr val="32333B"/>
                </a:solidFill>
                <a:latin typeface="S-Core Dream 5 Medium"/>
              </a:rPr>
              <a:t> → </a:t>
            </a:r>
            <a:r>
              <a:rPr lang="ko-KR" sz="1400" b="0" i="0" u="none" strike="noStrike" spc="-100">
                <a:solidFill>
                  <a:srgbClr val="32333B"/>
                </a:solidFill>
                <a:ea typeface="S-Core Dream 5 Medium"/>
              </a:rPr>
              <a:t>문서</a:t>
            </a:r>
            <a:r>
              <a:rPr lang="en-US" sz="1400" b="0" i="0" u="none" strike="noStrike" spc="-100">
                <a:solidFill>
                  <a:srgbClr val="32333B"/>
                </a:solidFill>
                <a:latin typeface="S-Core Dream 5 Medium"/>
              </a:rPr>
              <a:t> </a:t>
            </a:r>
            <a:r>
              <a:rPr lang="ko-KR" sz="1400" b="0" i="0" u="none" strike="noStrike" spc="-100">
                <a:solidFill>
                  <a:srgbClr val="32333B"/>
                </a:solidFill>
                <a:ea typeface="S-Core Dream 5 Medium"/>
              </a:rPr>
              <a:t>제출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270750" y="2908300"/>
            <a:ext cx="40513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3000" b="1" i="0" u="none" strike="noStrike" dirty="0" err="1">
                <a:solidFill>
                  <a:srgbClr val="3567D3"/>
                </a:solidFill>
                <a:ea typeface="Pretendard Regular"/>
              </a:rPr>
              <a:t>주차별</a:t>
            </a:r>
            <a:r>
              <a:rPr lang="en-US" sz="3000" b="1" i="0" u="none" strike="noStrike" dirty="0">
                <a:solidFill>
                  <a:srgbClr val="3567D3"/>
                </a:solidFill>
                <a:latin typeface="Pretendard Regular"/>
              </a:rPr>
              <a:t> </a:t>
            </a:r>
            <a:r>
              <a:rPr lang="ko-KR" sz="3000" b="1" i="0" u="none" strike="noStrike" dirty="0">
                <a:solidFill>
                  <a:srgbClr val="3567D3"/>
                </a:solidFill>
                <a:ea typeface="Pretendard Regular"/>
              </a:rPr>
              <a:t>스프린트</a:t>
            </a:r>
            <a:r>
              <a:rPr lang="en-US" sz="3000" b="1" i="0" u="none" strike="noStrike" dirty="0">
                <a:solidFill>
                  <a:srgbClr val="3567D3"/>
                </a:solidFill>
                <a:latin typeface="Pretendard Regular"/>
              </a:rPr>
              <a:t> </a:t>
            </a:r>
            <a:r>
              <a:rPr lang="ko-KR" sz="3000" b="1" i="0" u="none" strike="noStrike" dirty="0">
                <a:solidFill>
                  <a:srgbClr val="3567D3"/>
                </a:solidFill>
                <a:ea typeface="Pretendard Regular"/>
              </a:rPr>
              <a:t>구성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596900"/>
            <a:ext cx="2197100" cy="2146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200" y="584200"/>
            <a:ext cx="2197100" cy="2146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900" y="584200"/>
            <a:ext cx="2197100" cy="2146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100" y="571500"/>
            <a:ext cx="2197100" cy="2146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571500"/>
            <a:ext cx="2197100" cy="2146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900" y="482600"/>
            <a:ext cx="2895600" cy="2146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489700" y="635000"/>
            <a:ext cx="24511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500" b="0" i="0" u="none" strike="noStrike" spc="100">
                <a:solidFill>
                  <a:srgbClr val="598EFF"/>
                </a:solidFill>
                <a:latin typeface="Gmarket Sans Medium"/>
              </a:rPr>
              <a:t>04. </a:t>
            </a:r>
            <a:r>
              <a:rPr lang="ko-KR" sz="1500" b="0" i="0" u="none" strike="noStrike" spc="100">
                <a:solidFill>
                  <a:srgbClr val="598EFF"/>
                </a:solidFill>
                <a:ea typeface="Gmarket Sans Medium"/>
              </a:rPr>
              <a:t>개발</a:t>
            </a:r>
            <a:r>
              <a:rPr lang="en-US" sz="1500" b="0" i="0" u="none" strike="noStrike" spc="10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1500" b="0" i="0" u="none" strike="noStrike" spc="100">
                <a:solidFill>
                  <a:srgbClr val="598EFF"/>
                </a:solidFill>
                <a:ea typeface="Gmarket Sans Medium"/>
              </a:rPr>
              <a:t>일정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1016000"/>
            <a:ext cx="16687800" cy="8763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6700" y="1701800"/>
            <a:ext cx="12687300" cy="1041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65300" y="1930400"/>
            <a:ext cx="558800" cy="558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3690600" y="2222500"/>
            <a:ext cx="673100" cy="25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156200" y="1803400"/>
            <a:ext cx="7988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개발</a:t>
            </a:r>
            <a:r>
              <a:rPr lang="en-US" sz="4500" b="0" i="0" u="none" strike="noStrike" spc="1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일정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6400" y="1828800"/>
            <a:ext cx="1892300" cy="7747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3835400" y="1968500"/>
            <a:ext cx="7493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>
                <a:solidFill>
                  <a:srgbClr val="FFFFFF"/>
                </a:solidFill>
                <a:latin typeface="Gmarket Sans Medium"/>
              </a:rPr>
              <a:t>04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36900" y="2108200"/>
            <a:ext cx="8890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Gmarket Sans Medium"/>
              </a:rPr>
              <a:t>chapter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25200" y="3873500"/>
            <a:ext cx="685800" cy="4953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7912100" y="2971800"/>
            <a:ext cx="25273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3000" b="1" i="0" u="none" strike="noStrike">
                <a:solidFill>
                  <a:srgbClr val="3567D3"/>
                </a:solidFill>
                <a:ea typeface="Pretendard Regular"/>
              </a:rPr>
              <a:t>전체</a:t>
            </a:r>
            <a:r>
              <a:rPr lang="en-US" sz="3000" b="1" i="0" u="none" strike="noStrike">
                <a:solidFill>
                  <a:srgbClr val="3567D3"/>
                </a:solidFill>
                <a:latin typeface="Pretendard Regular"/>
              </a:rPr>
              <a:t> </a:t>
            </a:r>
            <a:r>
              <a:rPr lang="ko-KR" sz="3000" b="1" i="0" u="none" strike="noStrike">
                <a:solidFill>
                  <a:srgbClr val="3567D3"/>
                </a:solidFill>
                <a:ea typeface="Pretendard Regular"/>
              </a:rPr>
              <a:t>일정표</a:t>
            </a:r>
            <a:r>
              <a:rPr lang="en-US" sz="3000" b="1" i="0" u="none" strike="noStrike">
                <a:solidFill>
                  <a:srgbClr val="3567D3"/>
                </a:solidFill>
                <a:latin typeface="Pretendard Regular"/>
              </a:rPr>
              <a:t> </a:t>
            </a:r>
            <a:r>
              <a:rPr lang="ko-KR" sz="3000" b="1" i="0" u="none" strike="noStrike">
                <a:solidFill>
                  <a:srgbClr val="3567D3"/>
                </a:solidFill>
                <a:ea typeface="Pretendard Regular"/>
              </a:rPr>
              <a:t>요약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alphaModFix amt="70000"/>
          </a:blip>
          <a:stretch>
            <a:fillRect/>
          </a:stretch>
        </p:blipFill>
        <p:spPr>
          <a:xfrm>
            <a:off x="3657600" y="7950200"/>
            <a:ext cx="10960100" cy="660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83000" y="4114800"/>
            <a:ext cx="2451100" cy="35814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3644900" y="4178300"/>
            <a:ext cx="25273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8726"/>
              </a:lnSpc>
            </a:pPr>
            <a:r>
              <a:rPr lang="ko-KR" sz="1900" b="0" i="0" u="none" strike="noStrike">
                <a:solidFill>
                  <a:srgbClr val="FFFFFF"/>
                </a:solidFill>
                <a:ea typeface="S-Core Dream 6 Bold"/>
              </a:rPr>
              <a:t>기획</a:t>
            </a:r>
            <a:r>
              <a:rPr lang="en-US" sz="1900" b="0" i="0" u="none" strike="noStrike">
                <a:solidFill>
                  <a:srgbClr val="FFFFFF"/>
                </a:solidFill>
                <a:latin typeface="S-Core Dream 6 Bold"/>
              </a:rPr>
              <a:t>&amp;</a:t>
            </a:r>
            <a:r>
              <a:rPr lang="ko-KR" sz="1900" b="0" i="0" u="none" strike="noStrike">
                <a:solidFill>
                  <a:srgbClr val="FFFFFF"/>
                </a:solidFill>
                <a:ea typeface="S-Core Dream 6 Bold"/>
              </a:rPr>
              <a:t>설계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5100" y="4114800"/>
            <a:ext cx="2451100" cy="35814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6477000" y="4178300"/>
            <a:ext cx="25273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8726"/>
              </a:lnSpc>
            </a:pPr>
            <a:r>
              <a:rPr lang="ko-KR" sz="1900" b="0" i="0" u="none" strike="noStrike">
                <a:solidFill>
                  <a:srgbClr val="FFFFFF"/>
                </a:solidFill>
                <a:ea typeface="S-Core Dream 6 Bold"/>
              </a:rPr>
              <a:t>기능</a:t>
            </a:r>
            <a:r>
              <a:rPr lang="en-US" sz="1900" b="0" i="0" u="none" strike="noStrike">
                <a:solidFill>
                  <a:srgbClr val="FFFFFF"/>
                </a:solidFill>
                <a:latin typeface="S-Core Dream 6 Bold"/>
              </a:rPr>
              <a:t> </a:t>
            </a:r>
            <a:r>
              <a:rPr lang="ko-KR" sz="1900" b="0" i="0" u="none" strike="noStrike">
                <a:solidFill>
                  <a:srgbClr val="FFFFFF"/>
                </a:solidFill>
                <a:ea typeface="S-Core Dream 6 Bold"/>
              </a:rPr>
              <a:t>구현</a:t>
            </a:r>
            <a:r>
              <a:rPr lang="en-US" sz="1900" b="0" i="0" u="none" strike="noStrike">
                <a:solidFill>
                  <a:srgbClr val="FFFFFF"/>
                </a:solidFill>
                <a:latin typeface="S-Core Dream 6 Bold"/>
              </a:rPr>
              <a:t>01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34500" y="4114800"/>
            <a:ext cx="2451100" cy="35814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9309100" y="4178300"/>
            <a:ext cx="25273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8726"/>
              </a:lnSpc>
            </a:pPr>
            <a:r>
              <a:rPr lang="ko-KR" sz="1900" b="0" i="0" u="none" strike="noStrike">
                <a:solidFill>
                  <a:srgbClr val="FFFFFF"/>
                </a:solidFill>
                <a:ea typeface="S-Core Dream 6 Bold"/>
              </a:rPr>
              <a:t>기능</a:t>
            </a:r>
            <a:r>
              <a:rPr lang="en-US" sz="1900" b="0" i="0" u="none" strike="noStrike">
                <a:solidFill>
                  <a:srgbClr val="FFFFFF"/>
                </a:solidFill>
                <a:latin typeface="S-Core Dream 6 Bold"/>
              </a:rPr>
              <a:t> </a:t>
            </a:r>
            <a:r>
              <a:rPr lang="ko-KR" sz="1900" b="0" i="0" u="none" strike="noStrike">
                <a:solidFill>
                  <a:srgbClr val="FFFFFF"/>
                </a:solidFill>
                <a:ea typeface="S-Core Dream 6 Bold"/>
              </a:rPr>
              <a:t>구현</a:t>
            </a:r>
            <a:r>
              <a:rPr lang="en-US" sz="1900" b="0" i="0" u="none" strike="noStrike">
                <a:solidFill>
                  <a:srgbClr val="FFFFFF"/>
                </a:solidFill>
                <a:latin typeface="S-Core Dream 6 Bold"/>
              </a:rPr>
              <a:t>02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166600" y="4114800"/>
            <a:ext cx="2451100" cy="35814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12128500" y="4178300"/>
            <a:ext cx="25273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8726"/>
              </a:lnSpc>
            </a:pPr>
            <a:r>
              <a:rPr lang="ko-KR" sz="1900" b="0" i="0" u="none" strike="noStrike">
                <a:solidFill>
                  <a:srgbClr val="FFFFFF"/>
                </a:solidFill>
                <a:ea typeface="S-Core Dream 6 Bold"/>
              </a:rPr>
              <a:t>테스트</a:t>
            </a:r>
            <a:r>
              <a:rPr lang="en-US" sz="1900" b="0" i="0" u="none" strike="noStrike">
                <a:solidFill>
                  <a:srgbClr val="FFFFFF"/>
                </a:solidFill>
                <a:latin typeface="S-Core Dream 6 Bold"/>
              </a:rPr>
              <a:t>&amp;</a:t>
            </a:r>
            <a:r>
              <a:rPr lang="ko-KR" sz="1900" b="0" i="0" u="none" strike="noStrike">
                <a:solidFill>
                  <a:srgbClr val="FFFFFF"/>
                </a:solidFill>
                <a:ea typeface="S-Core Dream 6 Bold"/>
              </a:rPr>
              <a:t>마무리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204700" y="5054600"/>
            <a:ext cx="2387600" cy="1371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6535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NanumSquare Regular"/>
              </a:rPr>
              <a:t>시연</a:t>
            </a:r>
            <a:r>
              <a:rPr lang="en-US" sz="1700" b="1" i="0" u="none" strike="noStrike" spc="-100">
                <a:solidFill>
                  <a:srgbClr val="000000"/>
                </a:solidFill>
                <a:latin typeface="NanumSquare Regular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NanumSquare Regular"/>
              </a:rPr>
              <a:t>영상</a:t>
            </a:r>
          </a:p>
          <a:p>
            <a:pPr lvl="0" algn="ctr">
              <a:lnSpc>
                <a:spcPct val="136535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NanumSquare Regular"/>
              </a:rPr>
              <a:t>발표</a:t>
            </a:r>
            <a:r>
              <a:rPr lang="en-US" sz="1700" b="1" i="0" u="none" strike="noStrike" spc="-100">
                <a:solidFill>
                  <a:srgbClr val="000000"/>
                </a:solidFill>
                <a:latin typeface="NanumSquare Regular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NanumSquare Regular"/>
              </a:rPr>
              <a:t>자료</a:t>
            </a:r>
          </a:p>
          <a:p>
            <a:pPr lvl="0" algn="ctr">
              <a:lnSpc>
                <a:spcPct val="136535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NanumSquare Regular"/>
              </a:rPr>
              <a:t>보고서</a:t>
            </a:r>
          </a:p>
          <a:p>
            <a:pPr lvl="0" algn="ctr">
              <a:lnSpc>
                <a:spcPct val="136535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NanumSquare Regular"/>
              </a:rPr>
              <a:t>문서화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822700" y="8166100"/>
            <a:ext cx="21844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5644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Black Han Sans Regular"/>
              </a:rPr>
              <a:t>1 ~ 2</a:t>
            </a:r>
            <a:r>
              <a:rPr lang="ko-KR" sz="2400" b="0" i="0" u="none" strike="noStrike">
                <a:solidFill>
                  <a:srgbClr val="FFFFFF"/>
                </a:solidFill>
                <a:ea typeface="Black Han Sans Regular"/>
              </a:rPr>
              <a:t>주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42100" y="8166100"/>
            <a:ext cx="21844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56440"/>
              </a:lnSpc>
            </a:pPr>
            <a:r>
              <a:rPr lang="en-US" sz="2400" b="0" i="0" u="none" strike="noStrike">
                <a:solidFill>
                  <a:srgbClr val="3C5A93">
                    <a:alpha val="80000"/>
                  </a:srgbClr>
                </a:solidFill>
                <a:latin typeface="Black Han Sans Regular"/>
              </a:rPr>
              <a:t>3 ~ 4</a:t>
            </a:r>
            <a:r>
              <a:rPr lang="ko-KR" sz="2400" b="0" i="0" u="none" strike="noStrike">
                <a:solidFill>
                  <a:srgbClr val="3C5A93">
                    <a:alpha val="80000"/>
                  </a:srgbClr>
                </a:solidFill>
                <a:ea typeface="Black Han Sans Regular"/>
              </a:rPr>
              <a:t>주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74200" y="8166100"/>
            <a:ext cx="21844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5644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Black Han Sans Regular"/>
              </a:rPr>
              <a:t>5 ~ 6</a:t>
            </a:r>
            <a:r>
              <a:rPr lang="ko-KR" sz="2400" b="0" i="0" u="none" strike="noStrike">
                <a:solidFill>
                  <a:srgbClr val="FFFFFF"/>
                </a:solidFill>
                <a:ea typeface="Black Han Sans Regular"/>
              </a:rPr>
              <a:t>주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306300" y="8166100"/>
            <a:ext cx="21844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56440"/>
              </a:lnSpc>
            </a:pPr>
            <a:r>
              <a:rPr lang="en-US" sz="2400" b="0" i="0" u="none" strike="noStrike">
                <a:solidFill>
                  <a:srgbClr val="3C5A93">
                    <a:alpha val="80000"/>
                  </a:srgbClr>
                </a:solidFill>
                <a:latin typeface="Black Han Sans Regular"/>
              </a:rPr>
              <a:t>7 ~ 8 </a:t>
            </a:r>
            <a:r>
              <a:rPr lang="ko-KR" sz="2400" b="0" i="0" u="none" strike="noStrike">
                <a:solidFill>
                  <a:srgbClr val="3C5A93">
                    <a:alpha val="80000"/>
                  </a:srgbClr>
                </a:solidFill>
                <a:ea typeface="Black Han Sans Regular"/>
              </a:rPr>
              <a:t>주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372600" y="5232400"/>
            <a:ext cx="23876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6535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NanumSquare Regular"/>
              </a:rPr>
              <a:t>관리자</a:t>
            </a:r>
            <a:r>
              <a:rPr lang="en-US" sz="1700" b="1" i="0" u="none" strike="noStrike" spc="-100">
                <a:solidFill>
                  <a:srgbClr val="000000"/>
                </a:solidFill>
                <a:latin typeface="NanumSquare Regular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NanumSquare Regular"/>
              </a:rPr>
              <a:t>승인</a:t>
            </a:r>
          </a:p>
          <a:p>
            <a:pPr lvl="0" algn="ctr">
              <a:lnSpc>
                <a:spcPct val="136535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NanumSquare Regular"/>
              </a:rPr>
              <a:t>통계</a:t>
            </a:r>
            <a:r>
              <a:rPr lang="en-US" sz="1700" b="1" i="0" u="none" strike="noStrike" spc="-100">
                <a:solidFill>
                  <a:srgbClr val="000000"/>
                </a:solidFill>
                <a:latin typeface="NanumSquare Regular"/>
              </a:rPr>
              <a:t> </a:t>
            </a:r>
          </a:p>
          <a:p>
            <a:pPr lvl="0" algn="ctr">
              <a:lnSpc>
                <a:spcPct val="136535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NanumSquare Regular"/>
              </a:rPr>
              <a:t>앱</a:t>
            </a:r>
            <a:r>
              <a:rPr lang="en-US" sz="1700" b="1" i="0" u="none" strike="noStrike" spc="-100">
                <a:solidFill>
                  <a:srgbClr val="000000"/>
                </a:solidFill>
                <a:latin typeface="NanumSquare Regular"/>
              </a:rPr>
              <a:t>-</a:t>
            </a:r>
            <a:r>
              <a:rPr lang="ko-KR" sz="1700" b="1" i="0" u="none" strike="noStrike" spc="-100">
                <a:solidFill>
                  <a:srgbClr val="000000"/>
                </a:solidFill>
                <a:ea typeface="NanumSquare Regular"/>
              </a:rPr>
              <a:t>서버</a:t>
            </a:r>
            <a:r>
              <a:rPr lang="en-US" sz="1700" b="1" i="0" u="none" strike="noStrike" spc="-100">
                <a:solidFill>
                  <a:srgbClr val="000000"/>
                </a:solidFill>
                <a:latin typeface="NanumSquare Regular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NanumSquare Regular"/>
              </a:rPr>
              <a:t>연동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540500" y="5232400"/>
            <a:ext cx="23876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6535"/>
              </a:lnSpc>
            </a:pPr>
            <a:r>
              <a:rPr lang="en-US" sz="1700" b="1" i="0" u="none" strike="noStrike" spc="-100">
                <a:solidFill>
                  <a:srgbClr val="000000"/>
                </a:solidFill>
                <a:latin typeface="NanumSquare Regular"/>
              </a:rPr>
              <a:t>BLE </a:t>
            </a:r>
            <a:r>
              <a:rPr lang="ko-KR" sz="1700" b="1" i="0" u="none" strike="noStrike" spc="-100">
                <a:solidFill>
                  <a:srgbClr val="000000"/>
                </a:solidFill>
                <a:ea typeface="NanumSquare Regular"/>
              </a:rPr>
              <a:t>출석</a:t>
            </a:r>
            <a:r>
              <a:rPr lang="en-US" sz="1700" b="1" i="0" u="none" strike="noStrike" spc="-100">
                <a:solidFill>
                  <a:srgbClr val="000000"/>
                </a:solidFill>
                <a:latin typeface="NanumSquare Regular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NanumSquare Regular"/>
              </a:rPr>
              <a:t>처리</a:t>
            </a:r>
            <a:r>
              <a:rPr lang="en-US" sz="1700" b="1" i="0" u="none" strike="noStrike" spc="-100">
                <a:solidFill>
                  <a:srgbClr val="000000"/>
                </a:solidFill>
                <a:latin typeface="NanumSquare Regular"/>
              </a:rPr>
              <a:t> </a:t>
            </a:r>
          </a:p>
          <a:p>
            <a:pPr lvl="0" algn="ctr">
              <a:lnSpc>
                <a:spcPct val="136535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NanumSquare Regular"/>
              </a:rPr>
              <a:t>외출</a:t>
            </a:r>
            <a:r>
              <a:rPr lang="en-US" sz="1700" b="1" i="0" u="none" strike="noStrike" spc="-100">
                <a:solidFill>
                  <a:srgbClr val="000000"/>
                </a:solidFill>
                <a:latin typeface="NanumSquare Regular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NanumSquare Regular"/>
              </a:rPr>
              <a:t>신청</a:t>
            </a:r>
          </a:p>
          <a:p>
            <a:pPr lvl="0" algn="ctr">
              <a:lnSpc>
                <a:spcPct val="136535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NanumSquare Regular"/>
              </a:rPr>
              <a:t>기본</a:t>
            </a:r>
            <a:r>
              <a:rPr lang="en-US" sz="1700" b="1" i="0" u="none" strike="noStrike" spc="-100">
                <a:solidFill>
                  <a:srgbClr val="000000"/>
                </a:solidFill>
                <a:latin typeface="NanumSquare Regular"/>
              </a:rPr>
              <a:t> API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721100" y="5232400"/>
            <a:ext cx="23876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6535"/>
              </a:lnSpc>
            </a:pPr>
            <a:r>
              <a:rPr lang="en-US" sz="1700" b="1" i="0" u="none" strike="noStrike" spc="-100">
                <a:solidFill>
                  <a:srgbClr val="000000"/>
                </a:solidFill>
                <a:latin typeface="NanumSquare Regular"/>
              </a:rPr>
              <a:t>UI  </a:t>
            </a:r>
            <a:r>
              <a:rPr lang="ko-KR" sz="1700" b="1" i="0" u="none" strike="noStrike" spc="-100">
                <a:solidFill>
                  <a:srgbClr val="000000"/>
                </a:solidFill>
                <a:ea typeface="NanumSquare Regular"/>
              </a:rPr>
              <a:t>와이어프레임</a:t>
            </a:r>
            <a:r>
              <a:rPr lang="en-US" sz="1700" b="1" i="0" u="none" strike="noStrike" spc="-100">
                <a:solidFill>
                  <a:srgbClr val="000000"/>
                </a:solidFill>
                <a:latin typeface="NanumSquare Regular"/>
              </a:rPr>
              <a:t> </a:t>
            </a:r>
          </a:p>
          <a:p>
            <a:pPr lvl="0" algn="ctr">
              <a:lnSpc>
                <a:spcPct val="136535"/>
              </a:lnSpc>
            </a:pPr>
            <a:r>
              <a:rPr lang="en-US" sz="1700" b="1" i="0" u="none" strike="noStrike" spc="-100">
                <a:solidFill>
                  <a:srgbClr val="000000"/>
                </a:solidFill>
                <a:latin typeface="NanumSquare Regular"/>
              </a:rPr>
              <a:t> DB</a:t>
            </a:r>
            <a:r>
              <a:rPr lang="ko-KR" sz="1700" b="1" i="0" u="none" strike="noStrike" spc="-100">
                <a:solidFill>
                  <a:srgbClr val="000000"/>
                </a:solidFill>
                <a:ea typeface="NanumSquare Regular"/>
              </a:rPr>
              <a:t>스키마</a:t>
            </a:r>
          </a:p>
          <a:p>
            <a:pPr lvl="0" algn="ctr">
              <a:lnSpc>
                <a:spcPct val="136535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NanumSquare Regular"/>
              </a:rPr>
              <a:t>역할</a:t>
            </a:r>
            <a:r>
              <a:rPr lang="en-US" sz="1700" b="1" i="0" u="none" strike="noStrike" spc="-100">
                <a:solidFill>
                  <a:srgbClr val="000000"/>
                </a:solidFill>
                <a:latin typeface="NanumSquare Regular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NanumSquare Regular"/>
              </a:rPr>
              <a:t>분담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596900"/>
            <a:ext cx="2197100" cy="2146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600" y="584200"/>
            <a:ext cx="2197100" cy="2146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100" y="584200"/>
            <a:ext cx="2197100" cy="2146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300" y="571500"/>
            <a:ext cx="2197100" cy="2146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571500"/>
            <a:ext cx="2197100" cy="2146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2100" y="482600"/>
            <a:ext cx="2895600" cy="2146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089900" y="635000"/>
            <a:ext cx="2438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500" b="0" i="0" u="none" strike="noStrike" spc="100">
                <a:solidFill>
                  <a:srgbClr val="598EFF"/>
                </a:solidFill>
                <a:latin typeface="Gmarket Sans Medium"/>
              </a:rPr>
              <a:t>05. </a:t>
            </a:r>
            <a:r>
              <a:rPr lang="ko-KR" sz="1500" b="0" i="0" u="none" strike="noStrike" spc="100">
                <a:solidFill>
                  <a:srgbClr val="598EFF"/>
                </a:solidFill>
                <a:ea typeface="Gmarket Sans Medium"/>
              </a:rPr>
              <a:t>기대효과</a:t>
            </a:r>
            <a:r>
              <a:rPr lang="en-US" sz="1500" b="0" i="0" u="none" strike="noStrike" spc="10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1500" b="0" i="0" u="none" strike="noStrike" spc="100">
                <a:solidFill>
                  <a:srgbClr val="598EFF"/>
                </a:solidFill>
                <a:ea typeface="Gmarket Sans Medium"/>
              </a:rPr>
              <a:t>및</a:t>
            </a:r>
            <a:r>
              <a:rPr lang="en-US" sz="1500" b="0" i="0" u="none" strike="noStrike" spc="100">
                <a:solidFill>
                  <a:srgbClr val="598EFF"/>
                </a:solidFill>
                <a:latin typeface="Gmarket Sans Medium"/>
              </a:rPr>
              <a:t>  </a:t>
            </a:r>
            <a:r>
              <a:rPr lang="ko-KR" sz="1500" b="0" i="0" u="none" strike="noStrike" spc="100">
                <a:solidFill>
                  <a:srgbClr val="598EFF"/>
                </a:solidFill>
                <a:ea typeface="Gmarket Sans Medium"/>
              </a:rPr>
              <a:t>활용</a:t>
            </a:r>
            <a:r>
              <a:rPr lang="en-US" sz="1500" b="0" i="0" u="none" strike="noStrike" spc="10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1500" b="0" i="0" u="none" strike="noStrike" spc="100">
                <a:solidFill>
                  <a:srgbClr val="598EFF"/>
                </a:solidFill>
                <a:ea typeface="Gmarket Sans Medium"/>
              </a:rPr>
              <a:t>방안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1016000"/>
            <a:ext cx="16687800" cy="8763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6700" y="1701800"/>
            <a:ext cx="12687300" cy="1041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65300" y="1930400"/>
            <a:ext cx="558800" cy="558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3690600" y="2222500"/>
            <a:ext cx="673100" cy="25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156200" y="1803400"/>
            <a:ext cx="7988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기대효과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6400" y="1828800"/>
            <a:ext cx="1892300" cy="7747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3835400" y="1968500"/>
            <a:ext cx="7493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>
                <a:solidFill>
                  <a:srgbClr val="FFFFFF"/>
                </a:solidFill>
                <a:latin typeface="Gmarket Sans Medium"/>
              </a:rPr>
              <a:t>05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36900" y="2108200"/>
            <a:ext cx="8890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Gmarket Sans Medium"/>
              </a:rPr>
              <a:t>chapter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>
            <a:off x="1765300" y="3340100"/>
            <a:ext cx="3606800" cy="5372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78000" y="5994400"/>
            <a:ext cx="3594100" cy="25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06600" y="3556000"/>
            <a:ext cx="3124200" cy="11938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2146300" y="3924300"/>
            <a:ext cx="28067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2009"/>
              </a:lnSpc>
            </a:pPr>
            <a:r>
              <a:rPr lang="ko-KR" sz="2400" b="1" i="0" u="none" strike="noStrike" spc="-300">
                <a:solidFill>
                  <a:srgbClr val="3567D3"/>
                </a:solidFill>
                <a:ea typeface="Gmarket Sans Medium"/>
              </a:rPr>
              <a:t>운영</a:t>
            </a:r>
            <a:r>
              <a:rPr lang="en-US" sz="2400" b="1" i="0" u="none" strike="noStrike" spc="-3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2400" b="1" i="0" u="none" strike="noStrike" spc="-300">
                <a:solidFill>
                  <a:srgbClr val="3567D3"/>
                </a:solidFill>
                <a:ea typeface="Gmarket Sans Medium"/>
              </a:rPr>
              <a:t>효율성</a:t>
            </a:r>
            <a:r>
              <a:rPr lang="en-US" sz="2400" b="1" i="0" u="none" strike="noStrike" spc="-3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2400" b="1" i="0" u="none" strike="noStrike" spc="-300">
                <a:solidFill>
                  <a:srgbClr val="3567D3"/>
                </a:solidFill>
                <a:ea typeface="Gmarket Sans Medium"/>
              </a:rPr>
              <a:t>향상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43100" y="5080000"/>
            <a:ext cx="32639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BLE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기반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자동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점호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시스템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도입으로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수기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작성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및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대면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확인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필요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없음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78000" y="7302500"/>
            <a:ext cx="3594100" cy="254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943100" y="6375400"/>
            <a:ext cx="32639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외출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신청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및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승인도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앱으로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처리되어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,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사감의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관리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부담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감소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43100" y="7835900"/>
            <a:ext cx="3263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실시간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반응형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관리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시스템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2">
            <a:alphaModFix amt="50000"/>
          </a:blip>
          <a:stretch>
            <a:fillRect/>
          </a:stretch>
        </p:blipFill>
        <p:spPr>
          <a:xfrm>
            <a:off x="5486400" y="3340100"/>
            <a:ext cx="3606800" cy="53721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0" y="5994400"/>
            <a:ext cx="3594100" cy="254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27700" y="3556000"/>
            <a:ext cx="3124200" cy="11938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5880100" y="3924300"/>
            <a:ext cx="28067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2009"/>
              </a:lnSpc>
            </a:pPr>
            <a:r>
              <a:rPr lang="ko-KR" sz="2400" b="1" i="0" u="none" strike="noStrike" spc="-300">
                <a:solidFill>
                  <a:srgbClr val="3567D3"/>
                </a:solidFill>
                <a:ea typeface="Gmarket Sans Medium"/>
              </a:rPr>
              <a:t>사용자</a:t>
            </a:r>
            <a:r>
              <a:rPr lang="en-US" sz="2400" b="1" i="0" u="none" strike="noStrike" spc="-3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2400" b="1" i="0" u="none" strike="noStrike" spc="-300">
                <a:solidFill>
                  <a:srgbClr val="3567D3"/>
                </a:solidFill>
                <a:ea typeface="Gmarket Sans Medium"/>
              </a:rPr>
              <a:t>편의성</a:t>
            </a:r>
            <a:r>
              <a:rPr lang="en-US" sz="2400" b="1" i="0" u="none" strike="noStrike" spc="-3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2400" b="1" i="0" u="none" strike="noStrike" spc="-300">
                <a:solidFill>
                  <a:srgbClr val="3567D3"/>
                </a:solidFill>
                <a:ea typeface="Gmarket Sans Medium"/>
              </a:rPr>
              <a:t>증대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651500" y="5080000"/>
            <a:ext cx="32639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학생은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이동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없이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출석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가능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, </a:t>
            </a:r>
          </a:p>
          <a:p>
            <a:pPr lvl="0" algn="ctr">
              <a:lnSpc>
                <a:spcPct val="131970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외출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신청도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실시간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처리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0" y="7302500"/>
            <a:ext cx="3594100" cy="254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5651500" y="6540500"/>
            <a:ext cx="3263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투명한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출석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시스템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51500" y="7670800"/>
            <a:ext cx="32639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앱에서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공지사항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,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점호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결과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확인까지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가능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>
            <a:off x="9194800" y="3340100"/>
            <a:ext cx="3606800" cy="53721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7500" y="5994400"/>
            <a:ext cx="3594100" cy="254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36100" y="3556000"/>
            <a:ext cx="3124200" cy="11938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9550400" y="3924300"/>
            <a:ext cx="28067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2009"/>
              </a:lnSpc>
            </a:pPr>
            <a:r>
              <a:rPr lang="ko-KR" sz="2400" b="1" i="0" u="none" strike="noStrike" spc="-300">
                <a:solidFill>
                  <a:srgbClr val="3567D3"/>
                </a:solidFill>
                <a:ea typeface="Gmarket Sans Medium"/>
              </a:rPr>
              <a:t>공정한</a:t>
            </a:r>
            <a:r>
              <a:rPr lang="en-US" sz="2400" b="1" i="0" u="none" strike="noStrike" spc="-3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2400" b="1" i="0" u="none" strike="noStrike" spc="-300">
                <a:solidFill>
                  <a:srgbClr val="3567D3"/>
                </a:solidFill>
                <a:ea typeface="Gmarket Sans Medium"/>
              </a:rPr>
              <a:t>출석</a:t>
            </a:r>
            <a:r>
              <a:rPr lang="en-US" sz="2400" b="1" i="0" u="none" strike="noStrike" spc="-3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2400" b="1" i="0" u="none" strike="noStrike" spc="-300">
                <a:solidFill>
                  <a:srgbClr val="3567D3"/>
                </a:solidFill>
                <a:ea typeface="Gmarket Sans Medium"/>
              </a:rPr>
              <a:t>처리</a:t>
            </a:r>
            <a:r>
              <a:rPr lang="en-US" sz="2400" b="1" i="0" u="none" strike="noStrike" spc="-3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2400" b="1" i="0" u="none" strike="noStrike" spc="-300">
                <a:solidFill>
                  <a:srgbClr val="3567D3"/>
                </a:solidFill>
                <a:ea typeface="Gmarket Sans Medium"/>
              </a:rPr>
              <a:t>관리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372600" y="5080000"/>
            <a:ext cx="32639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BLE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인증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또는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QR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을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통한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자동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인증으로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대리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점호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방지</a:t>
            </a: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7500" y="7302500"/>
            <a:ext cx="3594100" cy="25400"/>
          </a:xfrm>
          <a:prstGeom prst="rect">
            <a:avLst/>
          </a:prstGeom>
        </p:spPr>
      </p:pic>
      <p:sp>
        <p:nvSpPr>
          <p:cNvPr id="39" name="TextBox 39"/>
          <p:cNvSpPr txBox="1"/>
          <p:nvPr/>
        </p:nvSpPr>
        <p:spPr>
          <a:xfrm>
            <a:off x="9372600" y="6375400"/>
            <a:ext cx="32639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누락자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자동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감지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및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푸시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알림으로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정확한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출석률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확보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372600" y="7670800"/>
            <a:ext cx="32639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QR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코드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백업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인증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제공으로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시스템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신뢰도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확보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2">
            <a:alphaModFix amt="50000"/>
          </a:blip>
          <a:stretch>
            <a:fillRect/>
          </a:stretch>
        </p:blipFill>
        <p:spPr>
          <a:xfrm>
            <a:off x="12915900" y="3340100"/>
            <a:ext cx="3606800" cy="53721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15900" y="5994400"/>
            <a:ext cx="3594100" cy="254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157200" y="3556000"/>
            <a:ext cx="3124200" cy="1193800"/>
          </a:xfrm>
          <a:prstGeom prst="rect">
            <a:avLst/>
          </a:prstGeom>
        </p:spPr>
      </p:pic>
      <p:sp>
        <p:nvSpPr>
          <p:cNvPr id="44" name="TextBox 44"/>
          <p:cNvSpPr txBox="1"/>
          <p:nvPr/>
        </p:nvSpPr>
        <p:spPr>
          <a:xfrm>
            <a:off x="13284200" y="3708400"/>
            <a:ext cx="2806700" cy="876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2009"/>
              </a:lnSpc>
            </a:pPr>
            <a:r>
              <a:rPr lang="ko-KR" sz="2400" b="1" i="0" u="none" strike="noStrike" spc="-300">
                <a:solidFill>
                  <a:srgbClr val="3567D3"/>
                </a:solidFill>
                <a:ea typeface="Gmarket Sans Medium"/>
              </a:rPr>
              <a:t>실시간</a:t>
            </a:r>
            <a:r>
              <a:rPr lang="en-US" sz="2400" b="1" i="0" u="none" strike="noStrike" spc="-3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2400" b="1" i="0" u="none" strike="noStrike" spc="-300">
                <a:solidFill>
                  <a:srgbClr val="3567D3"/>
                </a:solidFill>
                <a:ea typeface="Gmarket Sans Medium"/>
              </a:rPr>
              <a:t>통계</a:t>
            </a:r>
            <a:r>
              <a:rPr lang="en-US" sz="2400" b="1" i="0" u="none" strike="noStrike" spc="-3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2400" b="1" i="0" u="none" strike="noStrike" spc="-300">
                <a:solidFill>
                  <a:srgbClr val="3567D3"/>
                </a:solidFill>
                <a:ea typeface="Gmarket Sans Medium"/>
              </a:rPr>
              <a:t>기반</a:t>
            </a:r>
            <a:r>
              <a:rPr lang="en-US" sz="2400" b="1" i="0" u="none" strike="noStrike" spc="-3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2400" b="1" i="0" u="none" strike="noStrike" spc="-300">
                <a:solidFill>
                  <a:srgbClr val="3567D3"/>
                </a:solidFill>
                <a:ea typeface="Gmarket Sans Medium"/>
              </a:rPr>
              <a:t>의사</a:t>
            </a:r>
            <a:r>
              <a:rPr lang="en-US" sz="2400" b="1" i="0" u="none" strike="noStrike" spc="-3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2400" b="1" i="0" u="none" strike="noStrike" spc="-300">
                <a:solidFill>
                  <a:srgbClr val="3567D3"/>
                </a:solidFill>
                <a:ea typeface="Gmarket Sans Medium"/>
              </a:rPr>
              <a:t>결정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081000" y="4914900"/>
            <a:ext cx="3263900" cy="965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관리자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대시보드에서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출석률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,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외출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빈도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(*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포인트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랭킹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)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등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시각적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리포트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제공</a:t>
            </a:r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15900" y="7302500"/>
            <a:ext cx="3594100" cy="25400"/>
          </a:xfrm>
          <a:prstGeom prst="rect">
            <a:avLst/>
          </a:prstGeom>
        </p:spPr>
      </p:pic>
      <p:sp>
        <p:nvSpPr>
          <p:cNvPr id="47" name="TextBox 47"/>
          <p:cNvSpPr txBox="1"/>
          <p:nvPr/>
        </p:nvSpPr>
        <p:spPr>
          <a:xfrm>
            <a:off x="13081000" y="6375400"/>
            <a:ext cx="32639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데이터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기반의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관리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효율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및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정책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개선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가능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081000" y="7670800"/>
            <a:ext cx="32639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이력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분석을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통해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정책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개선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및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인원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관리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최적화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가능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596900"/>
            <a:ext cx="2197100" cy="2146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600" y="584200"/>
            <a:ext cx="2197100" cy="2146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100" y="584200"/>
            <a:ext cx="2197100" cy="2146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300" y="571500"/>
            <a:ext cx="2197100" cy="2146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571500"/>
            <a:ext cx="2197100" cy="2146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2100" y="482600"/>
            <a:ext cx="2895600" cy="2146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089900" y="635000"/>
            <a:ext cx="24384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500" b="0" i="0" u="none" strike="noStrike" spc="100">
                <a:solidFill>
                  <a:srgbClr val="598EFF"/>
                </a:solidFill>
                <a:latin typeface="Gmarket Sans Medium"/>
              </a:rPr>
              <a:t>05. </a:t>
            </a:r>
            <a:r>
              <a:rPr lang="ko-KR" sz="1500" b="0" i="0" u="none" strike="noStrike" spc="100">
                <a:solidFill>
                  <a:srgbClr val="598EFF"/>
                </a:solidFill>
                <a:ea typeface="Gmarket Sans Medium"/>
              </a:rPr>
              <a:t>기대효과</a:t>
            </a:r>
            <a:r>
              <a:rPr lang="en-US" sz="1500" b="0" i="0" u="none" strike="noStrike" spc="10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1500" b="0" i="0" u="none" strike="noStrike" spc="100">
                <a:solidFill>
                  <a:srgbClr val="598EFF"/>
                </a:solidFill>
                <a:ea typeface="Gmarket Sans Medium"/>
              </a:rPr>
              <a:t>및</a:t>
            </a:r>
            <a:r>
              <a:rPr lang="en-US" sz="1500" b="0" i="0" u="none" strike="noStrike" spc="100">
                <a:solidFill>
                  <a:srgbClr val="598EFF"/>
                </a:solidFill>
                <a:latin typeface="Gmarket Sans Medium"/>
              </a:rPr>
              <a:t>  </a:t>
            </a:r>
            <a:r>
              <a:rPr lang="ko-KR" sz="1500" b="0" i="0" u="none" strike="noStrike" spc="100">
                <a:solidFill>
                  <a:srgbClr val="598EFF"/>
                </a:solidFill>
                <a:ea typeface="Gmarket Sans Medium"/>
              </a:rPr>
              <a:t>활용</a:t>
            </a:r>
            <a:r>
              <a:rPr lang="en-US" sz="1500" b="0" i="0" u="none" strike="noStrike" spc="10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1500" b="0" i="0" u="none" strike="noStrike" spc="100">
                <a:solidFill>
                  <a:srgbClr val="598EFF"/>
                </a:solidFill>
                <a:ea typeface="Gmarket Sans Medium"/>
              </a:rPr>
              <a:t>방안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1016000"/>
            <a:ext cx="16687800" cy="8763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6700" y="1701800"/>
            <a:ext cx="12687300" cy="1041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65300" y="1930400"/>
            <a:ext cx="558800" cy="558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3690600" y="2222500"/>
            <a:ext cx="673100" cy="25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156200" y="1803400"/>
            <a:ext cx="7988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활용</a:t>
            </a:r>
            <a:r>
              <a:rPr lang="en-US" sz="4500" b="0" i="0" u="none" strike="noStrike" spc="1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방안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6400" y="1828800"/>
            <a:ext cx="1892300" cy="7747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3835400" y="1968500"/>
            <a:ext cx="7493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>
                <a:solidFill>
                  <a:srgbClr val="FFFFFF"/>
                </a:solidFill>
                <a:latin typeface="Gmarket Sans Medium"/>
              </a:rPr>
              <a:t>05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36900" y="2108200"/>
            <a:ext cx="8890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Gmarket Sans Medium"/>
              </a:rPr>
              <a:t>chapter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>
            <a:off x="1765300" y="3340100"/>
            <a:ext cx="3606800" cy="5372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78000" y="5994400"/>
            <a:ext cx="3594100" cy="25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06600" y="3556000"/>
            <a:ext cx="3124200" cy="11938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2146300" y="3924300"/>
            <a:ext cx="28067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2009"/>
              </a:lnSpc>
            </a:pPr>
            <a:r>
              <a:rPr lang="ko-KR" sz="2400" b="1" i="0" u="none" strike="noStrike" spc="-300">
                <a:solidFill>
                  <a:srgbClr val="3567D3"/>
                </a:solidFill>
                <a:ea typeface="Gmarket Sans Medium"/>
              </a:rPr>
              <a:t>대학</a:t>
            </a:r>
            <a:r>
              <a:rPr lang="en-US" sz="2400" b="1" i="0" u="none" strike="noStrike" spc="-3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2400" b="1" i="0" u="none" strike="noStrike" spc="-300">
                <a:solidFill>
                  <a:srgbClr val="3567D3"/>
                </a:solidFill>
                <a:ea typeface="Gmarket Sans Medium"/>
              </a:rPr>
              <a:t>기숙사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43100" y="5245100"/>
            <a:ext cx="3263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BLE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기반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자동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점호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시스템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도입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78000" y="7302500"/>
            <a:ext cx="3594100" cy="254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943100" y="6540500"/>
            <a:ext cx="3263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학생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외출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앱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신청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→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사감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승인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연동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43100" y="7670800"/>
            <a:ext cx="32639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출결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포인트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누적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→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생활장학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/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보상제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연계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2">
            <a:alphaModFix amt="50000"/>
          </a:blip>
          <a:stretch>
            <a:fillRect/>
          </a:stretch>
        </p:blipFill>
        <p:spPr>
          <a:xfrm>
            <a:off x="5486400" y="3340100"/>
            <a:ext cx="3606800" cy="53721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0" y="5994400"/>
            <a:ext cx="3594100" cy="254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27700" y="3556000"/>
            <a:ext cx="3124200" cy="11938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5880100" y="3924300"/>
            <a:ext cx="28067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2009"/>
              </a:lnSpc>
            </a:pPr>
            <a:r>
              <a:rPr lang="ko-KR" sz="2400" b="1" i="0" u="none" strike="noStrike" spc="-300">
                <a:solidFill>
                  <a:srgbClr val="3567D3"/>
                </a:solidFill>
                <a:ea typeface="Gmarket Sans Medium"/>
              </a:rPr>
              <a:t>기업</a:t>
            </a:r>
            <a:r>
              <a:rPr lang="en-US" sz="2400" b="1" i="0" u="none" strike="noStrike" spc="-3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2400" b="1" i="0" u="none" strike="noStrike" spc="-300">
                <a:solidFill>
                  <a:srgbClr val="3567D3"/>
                </a:solidFill>
                <a:ea typeface="Gmarket Sans Medium"/>
              </a:rPr>
              <a:t>출입</a:t>
            </a:r>
            <a:r>
              <a:rPr lang="en-US" sz="2400" b="1" i="0" u="none" strike="noStrike" spc="-3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2400" b="1" i="0" u="none" strike="noStrike" spc="-300">
                <a:solidFill>
                  <a:srgbClr val="3567D3"/>
                </a:solidFill>
                <a:ea typeface="Gmarket Sans Medium"/>
              </a:rPr>
              <a:t>관리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651500" y="5245100"/>
            <a:ext cx="3263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사무실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출근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시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BLE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자동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출근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인증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0" y="7302500"/>
            <a:ext cx="3594100" cy="254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5651500" y="6540500"/>
            <a:ext cx="3263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외근자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위치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기반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보고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기능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51500" y="7835900"/>
            <a:ext cx="3263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출퇴근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기록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기반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근태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리포트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생성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>
            <a:off x="9194800" y="3340100"/>
            <a:ext cx="3606800" cy="53721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7500" y="5994400"/>
            <a:ext cx="3594100" cy="254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36100" y="3556000"/>
            <a:ext cx="3124200" cy="11938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9550400" y="3924300"/>
            <a:ext cx="28067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2009"/>
              </a:lnSpc>
            </a:pPr>
            <a:r>
              <a:rPr lang="ko-KR" sz="2400" b="1" i="0" u="none" strike="noStrike" spc="-300">
                <a:solidFill>
                  <a:srgbClr val="3567D3"/>
                </a:solidFill>
                <a:ea typeface="Gmarket Sans Medium"/>
              </a:rPr>
              <a:t>병원</a:t>
            </a:r>
            <a:r>
              <a:rPr lang="en-US" sz="2400" b="1" i="0" u="none" strike="noStrike" spc="-300">
                <a:solidFill>
                  <a:srgbClr val="3567D3"/>
                </a:solidFill>
                <a:latin typeface="Gmarket Sans Medium"/>
              </a:rPr>
              <a:t>/</a:t>
            </a:r>
            <a:r>
              <a:rPr lang="ko-KR" sz="2400" b="1" i="0" u="none" strike="noStrike" spc="-300">
                <a:solidFill>
                  <a:srgbClr val="3567D3"/>
                </a:solidFill>
                <a:ea typeface="Gmarket Sans Medium"/>
              </a:rPr>
              <a:t>요양시설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372600" y="5080000"/>
            <a:ext cx="32639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입소자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BLE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태그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위치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실시간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모니터링</a:t>
            </a: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7500" y="7302500"/>
            <a:ext cx="3594100" cy="25400"/>
          </a:xfrm>
          <a:prstGeom prst="rect">
            <a:avLst/>
          </a:prstGeom>
        </p:spPr>
      </p:pic>
      <p:sp>
        <p:nvSpPr>
          <p:cNvPr id="39" name="TextBox 39"/>
          <p:cNvSpPr txBox="1"/>
          <p:nvPr/>
        </p:nvSpPr>
        <p:spPr>
          <a:xfrm>
            <a:off x="9372600" y="6540500"/>
            <a:ext cx="3263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보호자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/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방문객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외출시간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통제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및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승인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372600" y="7670800"/>
            <a:ext cx="32639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점호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누락자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자동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알림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→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안전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사고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예방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2">
            <a:alphaModFix amt="50000"/>
          </a:blip>
          <a:stretch>
            <a:fillRect/>
          </a:stretch>
        </p:blipFill>
        <p:spPr>
          <a:xfrm>
            <a:off x="12915900" y="3340100"/>
            <a:ext cx="3606800" cy="53721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15900" y="5994400"/>
            <a:ext cx="3594100" cy="254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157200" y="3556000"/>
            <a:ext cx="3124200" cy="1193800"/>
          </a:xfrm>
          <a:prstGeom prst="rect">
            <a:avLst/>
          </a:prstGeom>
        </p:spPr>
      </p:pic>
      <p:sp>
        <p:nvSpPr>
          <p:cNvPr id="44" name="TextBox 44"/>
          <p:cNvSpPr txBox="1"/>
          <p:nvPr/>
        </p:nvSpPr>
        <p:spPr>
          <a:xfrm>
            <a:off x="13284200" y="3924300"/>
            <a:ext cx="28067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2009"/>
              </a:lnSpc>
            </a:pPr>
            <a:r>
              <a:rPr lang="ko-KR" sz="2400" b="1" i="0" u="none" strike="noStrike" spc="-300">
                <a:solidFill>
                  <a:srgbClr val="3567D3"/>
                </a:solidFill>
                <a:ea typeface="Gmarket Sans Medium"/>
              </a:rPr>
              <a:t>기숙형</a:t>
            </a:r>
            <a:r>
              <a:rPr lang="en-US" sz="2400" b="1" i="0" u="none" strike="noStrike" spc="-3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2400" b="1" i="0" u="none" strike="noStrike" spc="-300">
                <a:solidFill>
                  <a:srgbClr val="3567D3"/>
                </a:solidFill>
                <a:ea typeface="Gmarket Sans Medium"/>
              </a:rPr>
              <a:t>학교</a:t>
            </a:r>
            <a:r>
              <a:rPr lang="en-US" sz="2400" b="1" i="0" u="none" strike="noStrike" spc="-300">
                <a:solidFill>
                  <a:srgbClr val="3567D3"/>
                </a:solidFill>
                <a:latin typeface="Gmarket Sans Medium"/>
              </a:rPr>
              <a:t>/</a:t>
            </a:r>
            <a:r>
              <a:rPr lang="ko-KR" sz="2400" b="1" i="0" u="none" strike="noStrike" spc="-300">
                <a:solidFill>
                  <a:srgbClr val="3567D3"/>
                </a:solidFill>
                <a:ea typeface="Gmarket Sans Medium"/>
              </a:rPr>
              <a:t>연수원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081000" y="5245100"/>
            <a:ext cx="3263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야간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점호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자동화로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교직원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업무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감소</a:t>
            </a:r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15900" y="7302500"/>
            <a:ext cx="3594100" cy="25400"/>
          </a:xfrm>
          <a:prstGeom prst="rect">
            <a:avLst/>
          </a:prstGeom>
        </p:spPr>
      </p:pic>
      <p:sp>
        <p:nvSpPr>
          <p:cNvPr id="47" name="TextBox 47"/>
          <p:cNvSpPr txBox="1"/>
          <p:nvPr/>
        </p:nvSpPr>
        <p:spPr>
          <a:xfrm>
            <a:off x="13081000" y="6540500"/>
            <a:ext cx="3263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학생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공지사항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모바일로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통합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전달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081000" y="7670800"/>
            <a:ext cx="32639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970"/>
              </a:lnSpc>
            </a:pP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출석률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기반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행동평가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시스템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연동</a:t>
            </a:r>
            <a:r>
              <a:rPr lang="en-US" sz="17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700" b="1" i="0" u="none" strike="noStrike" spc="-100">
                <a:solidFill>
                  <a:srgbClr val="000000"/>
                </a:solidFill>
                <a:ea typeface="Gmarket Sans Light"/>
              </a:rPr>
              <a:t>가능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00" y="596900"/>
            <a:ext cx="2197100" cy="2146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600" y="584200"/>
            <a:ext cx="2197100" cy="2146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100" y="584200"/>
            <a:ext cx="2197100" cy="2146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300" y="571500"/>
            <a:ext cx="2197100" cy="2146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571500"/>
            <a:ext cx="2197100" cy="2146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300" y="482600"/>
            <a:ext cx="2895600" cy="2146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9817100" y="635000"/>
            <a:ext cx="24511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500" b="0" i="0" u="none" strike="noStrike" spc="100">
                <a:solidFill>
                  <a:srgbClr val="598EFF"/>
                </a:solidFill>
                <a:latin typeface="Gmarket Sans Medium"/>
              </a:rPr>
              <a:t>06. </a:t>
            </a:r>
            <a:r>
              <a:rPr lang="ko-KR" sz="1500" b="0" i="0" u="none" strike="noStrike" spc="100">
                <a:solidFill>
                  <a:srgbClr val="598EFF"/>
                </a:solidFill>
                <a:ea typeface="Gmarket Sans Medium"/>
              </a:rPr>
              <a:t>문제</a:t>
            </a:r>
            <a:r>
              <a:rPr lang="en-US" sz="1500" b="0" i="0" u="none" strike="noStrike" spc="10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1500" b="0" i="0" u="none" strike="noStrike" spc="100">
                <a:solidFill>
                  <a:srgbClr val="598EFF"/>
                </a:solidFill>
                <a:ea typeface="Gmarket Sans Medium"/>
              </a:rPr>
              <a:t>및</a:t>
            </a:r>
            <a:r>
              <a:rPr lang="en-US" sz="1500" b="0" i="0" u="none" strike="noStrike" spc="10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1500" b="0" i="0" u="none" strike="noStrike" spc="100">
                <a:solidFill>
                  <a:srgbClr val="598EFF"/>
                </a:solidFill>
                <a:ea typeface="Gmarket Sans Medium"/>
              </a:rPr>
              <a:t>해결</a:t>
            </a:r>
            <a:r>
              <a:rPr lang="en-US" sz="1500" b="0" i="0" u="none" strike="noStrike" spc="10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1500" b="0" i="0" u="none" strike="noStrike" spc="100">
                <a:solidFill>
                  <a:srgbClr val="598EFF"/>
                </a:solidFill>
                <a:ea typeface="Gmarket Sans Medium"/>
              </a:rPr>
              <a:t>방안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1016000"/>
            <a:ext cx="16687800" cy="8763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6700" y="1701800"/>
            <a:ext cx="12687300" cy="1041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65300" y="1930400"/>
            <a:ext cx="558800" cy="558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3690600" y="2222500"/>
            <a:ext cx="673100" cy="25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156200" y="1803400"/>
            <a:ext cx="7988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4500" b="0" i="0" u="none" strike="noStrike" spc="100">
                <a:solidFill>
                  <a:srgbClr val="3567D3"/>
                </a:solidFill>
                <a:latin typeface="Gmarket Sans Medium"/>
              </a:rPr>
              <a:t> </a:t>
            </a: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성과</a:t>
            </a:r>
            <a:r>
              <a:rPr lang="en-US" sz="4500" b="0" i="0" u="none" strike="noStrike" spc="1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목표</a:t>
            </a:r>
            <a:r>
              <a:rPr lang="en-US" sz="4500" b="0" i="0" u="none" strike="noStrike" spc="1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및</a:t>
            </a:r>
            <a:r>
              <a:rPr lang="en-US" sz="4500" b="0" i="0" u="none" strike="noStrike" spc="1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4500" b="0" i="0" u="none" strike="noStrike" spc="100">
                <a:solidFill>
                  <a:srgbClr val="3567D3"/>
                </a:solidFill>
                <a:ea typeface="Gmarket Sans Medium"/>
              </a:rPr>
              <a:t>확장성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6400" y="1828800"/>
            <a:ext cx="1892300" cy="7747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3835400" y="1968500"/>
            <a:ext cx="7493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>
                <a:solidFill>
                  <a:srgbClr val="FFFFFF"/>
                </a:solidFill>
                <a:latin typeface="Gmarket Sans Medium"/>
              </a:rPr>
              <a:t>06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36900" y="2108200"/>
            <a:ext cx="8890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Gmarket Sans Medium"/>
              </a:rPr>
              <a:t>chapter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alphaModFix amt="44000"/>
          </a:blip>
          <a:stretch>
            <a:fillRect/>
          </a:stretch>
        </p:blipFill>
        <p:spPr>
          <a:xfrm>
            <a:off x="2286000" y="3251200"/>
            <a:ext cx="6096000" cy="5994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67000" y="3530600"/>
            <a:ext cx="5346700" cy="787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3276600" y="3708400"/>
            <a:ext cx="41021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2009"/>
              </a:lnSpc>
            </a:pPr>
            <a:r>
              <a:rPr lang="ko-KR" sz="2400" b="0" i="0" u="none" strike="noStrike" spc="200">
                <a:solidFill>
                  <a:srgbClr val="3567D3"/>
                </a:solidFill>
                <a:ea typeface="Gmarket Sans Medium"/>
              </a:rPr>
              <a:t>성과</a:t>
            </a:r>
            <a:r>
              <a:rPr lang="en-US" sz="2400" b="0" i="0" u="none" strike="noStrike" spc="2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2400" b="0" i="0" u="none" strike="noStrike" spc="200">
                <a:solidFill>
                  <a:srgbClr val="3567D3"/>
                </a:solidFill>
                <a:ea typeface="Gmarket Sans Medium"/>
              </a:rPr>
              <a:t>목표</a:t>
            </a:r>
            <a:r>
              <a:rPr lang="en-US" sz="2400" b="0" i="0" u="none" strike="noStrike" spc="200">
                <a:solidFill>
                  <a:srgbClr val="3567D3"/>
                </a:solidFill>
                <a:latin typeface="Gmarket Sans Medium"/>
              </a:rPr>
              <a:t> (</a:t>
            </a:r>
            <a:r>
              <a:rPr lang="ko-KR" sz="2400" b="0" i="0" u="none" strike="noStrike" spc="200">
                <a:solidFill>
                  <a:srgbClr val="3567D3"/>
                </a:solidFill>
                <a:ea typeface="Gmarket Sans Medium"/>
              </a:rPr>
              <a:t>단기</a:t>
            </a:r>
            <a:r>
              <a:rPr lang="en-US" sz="2400" b="0" i="0" u="none" strike="noStrike" spc="200">
                <a:solidFill>
                  <a:srgbClr val="3567D3"/>
                </a:solidFill>
                <a:latin typeface="Gmarket Sans Medium"/>
              </a:rPr>
              <a:t>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187700" y="4330700"/>
            <a:ext cx="4318000" cy="450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31970"/>
              </a:lnSpc>
              <a:buClr>
                <a:srgbClr val="000000"/>
              </a:buClr>
              <a:buFont typeface="Arial"/>
              <a:buChar char="●"/>
            </a:pPr>
            <a:r>
              <a:rPr lang="ko-KR" sz="1500" b="1" i="0" u="none" strike="noStrike" spc="-100">
                <a:solidFill>
                  <a:srgbClr val="000000"/>
                </a:solidFill>
                <a:ea typeface="Gmarket Sans Light"/>
              </a:rPr>
              <a:t>실용화</a:t>
            </a:r>
          </a:p>
          <a:p>
            <a:pPr marL="533400" lvl="1" indent="-342900" algn="l">
              <a:lnSpc>
                <a:spcPct val="131970"/>
              </a:lnSpc>
              <a:buClr>
                <a:srgbClr val="000000"/>
              </a:buClr>
              <a:buFont typeface="Arial"/>
              <a:buChar char="○"/>
            </a:pP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한국폴리텍대학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성남캠퍼스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기숙사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시범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적용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및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실사용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운영</a:t>
            </a:r>
          </a:p>
          <a:p>
            <a:pPr marL="342900" lvl="0" indent="-342900" algn="l">
              <a:lnSpc>
                <a:spcPct val="131970"/>
              </a:lnSpc>
              <a:buClr>
                <a:srgbClr val="000000"/>
              </a:buClr>
              <a:buFont typeface="Arial"/>
              <a:buChar char="●"/>
            </a:pPr>
            <a:r>
              <a:rPr lang="ko-KR" sz="1500" b="1" i="0" u="none" strike="noStrike" spc="-100">
                <a:solidFill>
                  <a:srgbClr val="000000"/>
                </a:solidFill>
                <a:ea typeface="Gmarket Sans Light"/>
              </a:rPr>
              <a:t>출석</a:t>
            </a:r>
            <a:r>
              <a:rPr lang="en-US" sz="15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1" i="0" u="none" strike="noStrike" spc="-100">
                <a:solidFill>
                  <a:srgbClr val="000000"/>
                </a:solidFill>
                <a:ea typeface="Gmarket Sans Light"/>
              </a:rPr>
              <a:t>자동화</a:t>
            </a:r>
            <a:r>
              <a:rPr lang="en-US" sz="15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1" i="0" u="none" strike="noStrike" spc="-100">
                <a:solidFill>
                  <a:srgbClr val="000000"/>
                </a:solidFill>
                <a:ea typeface="Gmarket Sans Light"/>
              </a:rPr>
              <a:t>시스템</a:t>
            </a:r>
            <a:r>
              <a:rPr lang="en-US" sz="15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1" i="0" u="none" strike="noStrike" spc="-100">
                <a:solidFill>
                  <a:srgbClr val="000000"/>
                </a:solidFill>
                <a:ea typeface="Gmarket Sans Light"/>
              </a:rPr>
              <a:t>완성</a:t>
            </a:r>
          </a:p>
          <a:p>
            <a:pPr marL="533400" lvl="1" indent="-342900" algn="l">
              <a:lnSpc>
                <a:spcPct val="131970"/>
              </a:lnSpc>
              <a:buClr>
                <a:srgbClr val="000000"/>
              </a:buClr>
              <a:buFont typeface="Arial"/>
              <a:buChar char="○"/>
            </a:pP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BLE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기반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점호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시스템의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안정적인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작동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및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학생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반응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확보</a:t>
            </a:r>
          </a:p>
          <a:p>
            <a:pPr marL="342900" lvl="0" indent="-342900" algn="l">
              <a:lnSpc>
                <a:spcPct val="131970"/>
              </a:lnSpc>
              <a:buClr>
                <a:srgbClr val="000000"/>
              </a:buClr>
              <a:buFont typeface="Arial"/>
              <a:buChar char="●"/>
            </a:pPr>
            <a:r>
              <a:rPr lang="ko-KR" sz="1500" b="1" i="0" u="none" strike="noStrike" spc="-100">
                <a:solidFill>
                  <a:srgbClr val="000000"/>
                </a:solidFill>
                <a:ea typeface="Gmarket Sans Light"/>
              </a:rPr>
              <a:t>외출</a:t>
            </a:r>
            <a:r>
              <a:rPr lang="en-US" sz="15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1" i="0" u="none" strike="noStrike" spc="-100">
                <a:solidFill>
                  <a:srgbClr val="000000"/>
                </a:solidFill>
                <a:ea typeface="Gmarket Sans Light"/>
              </a:rPr>
              <a:t>신청</a:t>
            </a:r>
            <a:r>
              <a:rPr lang="en-US" sz="1500" b="1" i="0" u="none" strike="noStrike" spc="-100">
                <a:solidFill>
                  <a:srgbClr val="000000"/>
                </a:solidFill>
                <a:latin typeface="Gmarket Sans Light"/>
              </a:rPr>
              <a:t>/</a:t>
            </a:r>
            <a:r>
              <a:rPr lang="ko-KR" sz="1500" b="1" i="0" u="none" strike="noStrike" spc="-100">
                <a:solidFill>
                  <a:srgbClr val="000000"/>
                </a:solidFill>
                <a:ea typeface="Gmarket Sans Light"/>
              </a:rPr>
              <a:t>관리</a:t>
            </a:r>
            <a:r>
              <a:rPr lang="en-US" sz="15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1" i="0" u="none" strike="noStrike" spc="-100">
                <a:solidFill>
                  <a:srgbClr val="000000"/>
                </a:solidFill>
                <a:ea typeface="Gmarket Sans Light"/>
              </a:rPr>
              <a:t>시스템</a:t>
            </a:r>
            <a:r>
              <a:rPr lang="en-US" sz="15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1" i="0" u="none" strike="noStrike" spc="-100">
                <a:solidFill>
                  <a:srgbClr val="000000"/>
                </a:solidFill>
                <a:ea typeface="Gmarket Sans Light"/>
              </a:rPr>
              <a:t>구현</a:t>
            </a:r>
          </a:p>
          <a:p>
            <a:pPr marL="533400" lvl="1" indent="-342900" algn="l">
              <a:lnSpc>
                <a:spcPct val="131970"/>
              </a:lnSpc>
              <a:buClr>
                <a:srgbClr val="000000"/>
              </a:buClr>
              <a:buFont typeface="Arial"/>
              <a:buChar char="○"/>
            </a:pP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앱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내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외출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신청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,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관리자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승인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,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실시간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알림까지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전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단계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완성</a:t>
            </a:r>
          </a:p>
          <a:p>
            <a:pPr marL="342900" lvl="0" indent="-342900" algn="l">
              <a:lnSpc>
                <a:spcPct val="131970"/>
              </a:lnSpc>
              <a:buClr>
                <a:srgbClr val="000000"/>
              </a:buClr>
              <a:buFont typeface="Arial"/>
              <a:buChar char="●"/>
            </a:pPr>
            <a:r>
              <a:rPr lang="ko-KR" sz="1500" b="1" i="0" u="none" strike="noStrike" spc="-100">
                <a:solidFill>
                  <a:srgbClr val="000000"/>
                </a:solidFill>
                <a:ea typeface="Gmarket Sans Light"/>
              </a:rPr>
              <a:t>공지사항</a:t>
            </a:r>
            <a:r>
              <a:rPr lang="en-US" sz="15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1" i="0" u="none" strike="noStrike" spc="-100">
                <a:solidFill>
                  <a:srgbClr val="000000"/>
                </a:solidFill>
                <a:ea typeface="Gmarket Sans Light"/>
              </a:rPr>
              <a:t>전달</a:t>
            </a:r>
            <a:r>
              <a:rPr lang="en-US" sz="15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1" i="0" u="none" strike="noStrike" spc="-100">
                <a:solidFill>
                  <a:srgbClr val="000000"/>
                </a:solidFill>
                <a:ea typeface="Gmarket Sans Light"/>
              </a:rPr>
              <a:t>최적화</a:t>
            </a:r>
          </a:p>
          <a:p>
            <a:pPr marL="533400" lvl="1" indent="-342900" algn="l">
              <a:lnSpc>
                <a:spcPct val="131970"/>
              </a:lnSpc>
              <a:buClr>
                <a:srgbClr val="000000"/>
              </a:buClr>
              <a:buFont typeface="Arial"/>
              <a:buChar char="○"/>
            </a:pP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관리자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웹에서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공지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작성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-&gt;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학생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앱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실시간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확인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+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열람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통계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수집</a:t>
            </a:r>
          </a:p>
          <a:p>
            <a:pPr marL="342900" lvl="0" indent="-342900" algn="l">
              <a:lnSpc>
                <a:spcPct val="131970"/>
              </a:lnSpc>
              <a:buClr>
                <a:srgbClr val="000000"/>
              </a:buClr>
              <a:buFont typeface="Arial"/>
              <a:buChar char="●"/>
            </a:pPr>
            <a:r>
              <a:rPr lang="ko-KR" sz="1500" b="1" i="0" u="none" strike="noStrike" spc="-100">
                <a:solidFill>
                  <a:srgbClr val="000000"/>
                </a:solidFill>
                <a:ea typeface="Gmarket Sans Light"/>
              </a:rPr>
              <a:t>통합</a:t>
            </a:r>
            <a:r>
              <a:rPr lang="en-US" sz="15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1" i="0" u="none" strike="noStrike" spc="-100">
                <a:solidFill>
                  <a:srgbClr val="000000"/>
                </a:solidFill>
                <a:ea typeface="Gmarket Sans Light"/>
              </a:rPr>
              <a:t>테스트</a:t>
            </a:r>
            <a:r>
              <a:rPr lang="en-US" sz="15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1" i="0" u="none" strike="noStrike" spc="-100">
                <a:solidFill>
                  <a:srgbClr val="000000"/>
                </a:solidFill>
                <a:ea typeface="Gmarket Sans Light"/>
              </a:rPr>
              <a:t>및</a:t>
            </a:r>
            <a:r>
              <a:rPr lang="en-US" sz="15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1" i="0" u="none" strike="noStrike" spc="-100">
                <a:solidFill>
                  <a:srgbClr val="000000"/>
                </a:solidFill>
                <a:ea typeface="Gmarket Sans Light"/>
              </a:rPr>
              <a:t>결과</a:t>
            </a:r>
            <a:r>
              <a:rPr lang="en-US" sz="1500" b="1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1" i="0" u="none" strike="noStrike" spc="-100">
                <a:solidFill>
                  <a:srgbClr val="000000"/>
                </a:solidFill>
                <a:ea typeface="Gmarket Sans Light"/>
              </a:rPr>
              <a:t>보고</a:t>
            </a:r>
          </a:p>
          <a:p>
            <a:pPr marL="533400" lvl="1" indent="-342900" algn="l">
              <a:lnSpc>
                <a:spcPct val="131970"/>
              </a:lnSpc>
              <a:buClr>
                <a:srgbClr val="000000"/>
              </a:buClr>
              <a:buFont typeface="Arial"/>
              <a:buChar char="○"/>
            </a:pP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BLE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인식률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,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외출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승인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응답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속도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,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푸시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알림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정확도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등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테스트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및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보고서</a:t>
            </a:r>
            <a:r>
              <a:rPr lang="en-US" sz="1500" b="0" i="0" u="none" strike="noStrike" spc="-100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 spc="-100">
                <a:solidFill>
                  <a:srgbClr val="000000"/>
                </a:solidFill>
                <a:ea typeface="Gmarket Sans Light"/>
              </a:rPr>
              <a:t>작성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13800" y="5092700"/>
            <a:ext cx="800100" cy="7493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2">
            <a:alphaModFix amt="44000"/>
          </a:blip>
          <a:stretch>
            <a:fillRect/>
          </a:stretch>
        </p:blipFill>
        <p:spPr>
          <a:xfrm>
            <a:off x="9906000" y="3251200"/>
            <a:ext cx="6096000" cy="59690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0" y="3530600"/>
            <a:ext cx="5346700" cy="7874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0896600" y="3708400"/>
            <a:ext cx="41021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2009"/>
              </a:lnSpc>
            </a:pPr>
            <a:r>
              <a:rPr lang="ko-KR" sz="2400" b="0" i="0" u="none" strike="noStrike" spc="200">
                <a:solidFill>
                  <a:srgbClr val="3567D3"/>
                </a:solidFill>
                <a:ea typeface="Gmarket Sans Medium"/>
              </a:rPr>
              <a:t>확장</a:t>
            </a:r>
            <a:r>
              <a:rPr lang="en-US" sz="2400" b="0" i="0" u="none" strike="noStrike" spc="200">
                <a:solidFill>
                  <a:srgbClr val="3567D3"/>
                </a:solidFill>
                <a:latin typeface="Gmarket Sans Medium"/>
              </a:rPr>
              <a:t> </a:t>
            </a:r>
            <a:r>
              <a:rPr lang="ko-KR" sz="2400" b="0" i="0" u="none" strike="noStrike" spc="200">
                <a:solidFill>
                  <a:srgbClr val="3567D3"/>
                </a:solidFill>
                <a:ea typeface="Gmarket Sans Medium"/>
              </a:rPr>
              <a:t>가능성</a:t>
            </a:r>
            <a:r>
              <a:rPr lang="en-US" sz="2400" b="0" i="0" u="none" strike="noStrike" spc="200">
                <a:solidFill>
                  <a:srgbClr val="3567D3"/>
                </a:solidFill>
                <a:latin typeface="Gmarket Sans Medium"/>
              </a:rPr>
              <a:t> (</a:t>
            </a:r>
            <a:r>
              <a:rPr lang="ko-KR" sz="2400" b="0" i="0" u="none" strike="noStrike" spc="200">
                <a:solidFill>
                  <a:srgbClr val="3567D3"/>
                </a:solidFill>
                <a:ea typeface="Gmarket Sans Medium"/>
              </a:rPr>
              <a:t>중장기</a:t>
            </a:r>
            <a:r>
              <a:rPr lang="en-US" sz="2400" b="0" i="0" u="none" strike="noStrike" spc="200">
                <a:solidFill>
                  <a:srgbClr val="3567D3"/>
                </a:solidFill>
                <a:latin typeface="Gmarket Sans Medium"/>
              </a:rPr>
              <a:t>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744200" y="4330700"/>
            <a:ext cx="4318000" cy="468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ko-KR" sz="1500" b="1" i="0" u="none" strike="noStrike">
                <a:solidFill>
                  <a:srgbClr val="000000"/>
                </a:solidFill>
                <a:ea typeface="Gmarket Sans Light"/>
              </a:rPr>
              <a:t>기술적</a:t>
            </a:r>
            <a:r>
              <a:rPr lang="en-US" sz="1500" b="1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1" i="0" u="none" strike="noStrike">
                <a:solidFill>
                  <a:srgbClr val="000000"/>
                </a:solidFill>
                <a:ea typeface="Gmarket Sans Light"/>
              </a:rPr>
              <a:t>확장</a:t>
            </a:r>
          </a:p>
          <a:p>
            <a:pPr marL="533400" lvl="1" indent="-342900" algn="l">
              <a:lnSpc>
                <a:spcPct val="120350"/>
              </a:lnSpc>
              <a:buClr>
                <a:srgbClr val="000000"/>
              </a:buClr>
              <a:buFont typeface="Arial"/>
              <a:buChar char="○"/>
            </a:pP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QR/RFID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인증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연계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지오펜싱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(GPS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기반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외출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허용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범위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설정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),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얼굴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인식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출석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등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다양한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인증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방식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추가</a:t>
            </a:r>
          </a:p>
          <a:p>
            <a:pPr marL="342900" lvl="0" indent="-342900" algn="l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ko-KR" sz="1500" b="1" i="0" u="none" strike="noStrike">
                <a:solidFill>
                  <a:srgbClr val="000000"/>
                </a:solidFill>
                <a:ea typeface="Gmarket Sans Light"/>
              </a:rPr>
              <a:t>대상</a:t>
            </a:r>
            <a:r>
              <a:rPr lang="en-US" sz="1500" b="1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1" i="0" u="none" strike="noStrike">
                <a:solidFill>
                  <a:srgbClr val="000000"/>
                </a:solidFill>
                <a:ea typeface="Gmarket Sans Light"/>
              </a:rPr>
              <a:t>기관</a:t>
            </a:r>
            <a:r>
              <a:rPr lang="en-US" sz="1500" b="1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1" i="0" u="none" strike="noStrike">
                <a:solidFill>
                  <a:srgbClr val="000000"/>
                </a:solidFill>
                <a:ea typeface="Gmarket Sans Light"/>
              </a:rPr>
              <a:t>확대</a:t>
            </a:r>
          </a:p>
          <a:p>
            <a:pPr marL="533400" lvl="1" indent="-342900" algn="l">
              <a:lnSpc>
                <a:spcPct val="120350"/>
              </a:lnSpc>
              <a:buClr>
                <a:srgbClr val="000000"/>
              </a:buClr>
              <a:buFont typeface="Arial"/>
              <a:buChar char="○"/>
            </a:pP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기숙사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외에도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학교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병원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군부대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연수원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기업체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등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출입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통제가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필요한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모든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조직에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적용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가능</a:t>
            </a:r>
          </a:p>
          <a:p>
            <a:pPr marL="342900" lvl="0" indent="-342900" algn="l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ko-KR" sz="1500" b="1" i="0" u="none" strike="noStrike">
                <a:solidFill>
                  <a:srgbClr val="000000"/>
                </a:solidFill>
                <a:ea typeface="Gmarket Sans Light"/>
              </a:rPr>
              <a:t>데이터</a:t>
            </a:r>
            <a:r>
              <a:rPr lang="en-US" sz="1500" b="1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1" i="0" u="none" strike="noStrike">
                <a:solidFill>
                  <a:srgbClr val="000000"/>
                </a:solidFill>
                <a:ea typeface="Gmarket Sans Light"/>
              </a:rPr>
              <a:t>기반</a:t>
            </a:r>
            <a:r>
              <a:rPr lang="en-US" sz="1500" b="1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1" i="0" u="none" strike="noStrike">
                <a:solidFill>
                  <a:srgbClr val="000000"/>
                </a:solidFill>
                <a:ea typeface="Gmarket Sans Light"/>
              </a:rPr>
              <a:t>서비스</a:t>
            </a:r>
            <a:r>
              <a:rPr lang="en-US" sz="1500" b="1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1" i="0" u="none" strike="noStrike">
                <a:solidFill>
                  <a:srgbClr val="000000"/>
                </a:solidFill>
                <a:ea typeface="Gmarket Sans Light"/>
              </a:rPr>
              <a:t>확장</a:t>
            </a:r>
          </a:p>
          <a:p>
            <a:pPr marL="533400" lvl="1" indent="-342900" algn="l">
              <a:lnSpc>
                <a:spcPct val="120350"/>
              </a:lnSpc>
              <a:buClr>
                <a:srgbClr val="000000"/>
              </a:buClr>
              <a:buFont typeface="Arial"/>
              <a:buChar char="○"/>
            </a:pP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출석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/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외출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기록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데이터를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활용한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행동패턴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분석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학생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신뢰지수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평가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생활장학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기준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제공</a:t>
            </a:r>
          </a:p>
          <a:p>
            <a:pPr marL="342900" lvl="0" indent="-342900" algn="l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ko-KR" sz="1500" b="1" i="0" u="none" strike="noStrike">
                <a:solidFill>
                  <a:srgbClr val="000000"/>
                </a:solidFill>
                <a:ea typeface="Gmarket Sans Light"/>
              </a:rPr>
              <a:t>연동</a:t>
            </a:r>
            <a:r>
              <a:rPr lang="en-US" sz="1500" b="1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1" i="0" u="none" strike="noStrike">
                <a:solidFill>
                  <a:srgbClr val="000000"/>
                </a:solidFill>
                <a:ea typeface="Gmarket Sans Light"/>
              </a:rPr>
              <a:t>시스템</a:t>
            </a:r>
            <a:r>
              <a:rPr lang="en-US" sz="1500" b="1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1" i="0" u="none" strike="noStrike">
                <a:solidFill>
                  <a:srgbClr val="000000"/>
                </a:solidFill>
                <a:ea typeface="Gmarket Sans Light"/>
              </a:rPr>
              <a:t>개발</a:t>
            </a:r>
          </a:p>
          <a:p>
            <a:pPr marL="533400" lvl="1" indent="-342900" algn="l">
              <a:lnSpc>
                <a:spcPct val="120350"/>
              </a:lnSpc>
              <a:buClr>
                <a:srgbClr val="000000"/>
              </a:buClr>
              <a:buFont typeface="Arial"/>
              <a:buChar char="○"/>
            </a:pP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학사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시스템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기숙사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ERP,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출결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API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등과의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연동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가능성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확보</a:t>
            </a:r>
          </a:p>
          <a:p>
            <a:pPr marL="342900" lvl="0" indent="-342900" algn="l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ko-KR" sz="1500" b="1" i="0" u="none" strike="noStrike">
                <a:solidFill>
                  <a:srgbClr val="000000"/>
                </a:solidFill>
                <a:ea typeface="Gmarket Sans Light"/>
              </a:rPr>
              <a:t>운영</a:t>
            </a:r>
            <a:r>
              <a:rPr lang="en-US" sz="1500" b="1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1" i="0" u="none" strike="noStrike">
                <a:solidFill>
                  <a:srgbClr val="000000"/>
                </a:solidFill>
                <a:ea typeface="Gmarket Sans Light"/>
              </a:rPr>
              <a:t>정책</a:t>
            </a:r>
            <a:r>
              <a:rPr lang="en-US" sz="1500" b="1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1" i="0" u="none" strike="noStrike">
                <a:solidFill>
                  <a:srgbClr val="000000"/>
                </a:solidFill>
                <a:ea typeface="Gmarket Sans Light"/>
              </a:rPr>
              <a:t>도입</a:t>
            </a:r>
          </a:p>
          <a:p>
            <a:pPr marL="533400" lvl="1" indent="-342900" algn="l">
              <a:lnSpc>
                <a:spcPct val="120350"/>
              </a:lnSpc>
              <a:buClr>
                <a:srgbClr val="000000"/>
              </a:buClr>
              <a:buFont typeface="Arial"/>
              <a:buChar char="○"/>
            </a:pP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포인트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기반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우선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외출권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부여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생활평가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반영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,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장학제도와의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연계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등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실질적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인센티브화</a:t>
            </a:r>
            <a:r>
              <a:rPr lang="en-US" sz="1500" b="0" i="0" u="none" strike="noStrike">
                <a:solidFill>
                  <a:srgbClr val="000000"/>
                </a:solidFill>
                <a:latin typeface="Gmarket Sans Light"/>
              </a:rPr>
              <a:t> </a:t>
            </a:r>
            <a:r>
              <a:rPr lang="ko-KR" sz="1500" b="0" i="0" u="none" strike="noStrike">
                <a:solidFill>
                  <a:srgbClr val="000000"/>
                </a:solidFill>
                <a:ea typeface="Gmarket Sans Light"/>
              </a:rPr>
              <a:t>가능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00" y="596900"/>
            <a:ext cx="2197100" cy="2146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600" y="584200"/>
            <a:ext cx="2197100" cy="2146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100" y="584200"/>
            <a:ext cx="2197100" cy="2146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300" y="571500"/>
            <a:ext cx="2197100" cy="2146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571500"/>
            <a:ext cx="2197100" cy="2146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300" y="482600"/>
            <a:ext cx="2895600" cy="2146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9817100" y="635000"/>
            <a:ext cx="24511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500" b="0" i="0" u="none" strike="noStrike" spc="100">
                <a:solidFill>
                  <a:srgbClr val="598EFF"/>
                </a:solidFill>
                <a:latin typeface="Gmarket Sans Medium"/>
              </a:rPr>
              <a:t>06. </a:t>
            </a:r>
            <a:r>
              <a:rPr lang="ko-KR" sz="1500" b="0" i="0" u="none" strike="noStrike" spc="100">
                <a:solidFill>
                  <a:srgbClr val="598EFF"/>
                </a:solidFill>
                <a:ea typeface="Gmarket Sans Medium"/>
              </a:rPr>
              <a:t>문제</a:t>
            </a:r>
            <a:r>
              <a:rPr lang="en-US" sz="1500" b="0" i="0" u="none" strike="noStrike" spc="10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1500" b="0" i="0" u="none" strike="noStrike" spc="100">
                <a:solidFill>
                  <a:srgbClr val="598EFF"/>
                </a:solidFill>
                <a:ea typeface="Gmarket Sans Medium"/>
              </a:rPr>
              <a:t>및</a:t>
            </a:r>
            <a:r>
              <a:rPr lang="en-US" sz="1500" b="0" i="0" u="none" strike="noStrike" spc="10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1500" b="0" i="0" u="none" strike="noStrike" spc="100">
                <a:solidFill>
                  <a:srgbClr val="598EFF"/>
                </a:solidFill>
                <a:ea typeface="Gmarket Sans Medium"/>
              </a:rPr>
              <a:t>해결</a:t>
            </a:r>
            <a:r>
              <a:rPr lang="en-US" sz="1500" b="0" i="0" u="none" strike="noStrike" spc="100">
                <a:solidFill>
                  <a:srgbClr val="598EFF"/>
                </a:solidFill>
                <a:latin typeface="Gmarket Sans Medium"/>
              </a:rPr>
              <a:t> </a:t>
            </a:r>
            <a:r>
              <a:rPr lang="ko-KR" sz="1500" b="0" i="0" u="none" strike="noStrike" spc="100">
                <a:solidFill>
                  <a:srgbClr val="598EFF"/>
                </a:solidFill>
                <a:ea typeface="Gmarket Sans Medium"/>
              </a:rPr>
              <a:t>방안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1016000"/>
            <a:ext cx="16687800" cy="8763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6700" y="1701800"/>
            <a:ext cx="12687300" cy="1041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65300" y="1930400"/>
            <a:ext cx="558800" cy="558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3690600" y="2222500"/>
            <a:ext cx="673100" cy="25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029200" y="1828800"/>
            <a:ext cx="7988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4500" b="0" i="0" u="none" strike="noStrike" spc="100">
                <a:solidFill>
                  <a:srgbClr val="3567D3"/>
                </a:solidFill>
                <a:latin typeface="Gmarket Sans Medium"/>
              </a:rPr>
              <a:t>QnA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alphaModFix amt="44000"/>
          </a:blip>
          <a:stretch>
            <a:fillRect/>
          </a:stretch>
        </p:blipFill>
        <p:spPr>
          <a:xfrm>
            <a:off x="2425700" y="2743200"/>
            <a:ext cx="13576300" cy="6489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1749</Words>
  <Application>Microsoft Office PowerPoint</Application>
  <PresentationFormat>사용자 지정</PresentationFormat>
  <Paragraphs>347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31" baseType="lpstr">
      <vt:lpstr>Gmarket Sans Medium</vt:lpstr>
      <vt:lpstr>S-Core Dream 6 Bold</vt:lpstr>
      <vt:lpstr>Gmarket Sans Bold</vt:lpstr>
      <vt:lpstr>Black Han Sans Regular</vt:lpstr>
      <vt:lpstr>Gmarket Sans Light</vt:lpstr>
      <vt:lpstr>S-Core Dream 5 Medium</vt:lpstr>
      <vt:lpstr>Pretendard Regular</vt:lpstr>
      <vt:lpstr>Pretendard Bold</vt:lpstr>
      <vt:lpstr>Arial</vt:lpstr>
      <vt:lpstr>S-Core Dream 4 Regular</vt:lpstr>
      <vt:lpstr>NanumSquare Regular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최종호</cp:lastModifiedBy>
  <cp:revision>4</cp:revision>
  <dcterms:created xsi:type="dcterms:W3CDTF">2006-08-16T00:00:00Z</dcterms:created>
  <dcterms:modified xsi:type="dcterms:W3CDTF">2025-04-09T23:50:37Z</dcterms:modified>
</cp:coreProperties>
</file>